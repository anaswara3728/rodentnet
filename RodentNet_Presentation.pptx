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48"/>
          </a:solidFill>
          <a:ln>
            <a:solidFill>
              <a:srgbClr val="0F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058400" cy="2926080"/>
          </a:xfrm>
          <a:prstGeom prst="rect">
            <a:avLst/>
          </a:prstGeom>
          <a:noFill/>
        </p:spPr>
        <p:txBody>
          <a:bodyPr wrap="square">
            <a:spAutoFit/>
          </a:bodyPr>
          <a:lstStyle/>
          <a:p>
            <a:pPr>
              <a:spcAft>
                <a:spcPts val="1200"/>
              </a:spcAft>
              <a:defRPr sz="1200" b="1">
                <a:solidFill>
                  <a:srgbClr val="93C5FD"/>
                </a:solidFill>
              </a:defRPr>
            </a:pPr>
            <a:r>
              <a:t>FINAL YEAR DEFENSE &amp; COMPREHENSIVE PROJECT PRESENTATION</a:t>
            </a:r>
          </a:p>
          <a:p>
            <a:pPr>
              <a:spcAft>
                <a:spcPts val="1200"/>
              </a:spcAft>
              <a:defRPr sz="3600" b="1">
                <a:solidFill>
                  <a:srgbClr val="FFFFFF"/>
                </a:solidFill>
              </a:defRPr>
            </a:pPr>
            <a:r>
              <a:t>RODENTNET: QUANTUM-RESILIENT</a:t>
            </a:r>
            <a:br/>
            <a:r>
              <a:t>SECURE FEDERATED LEARNING</a:t>
            </a:r>
          </a:p>
          <a:p>
            <a:pPr>
              <a:defRPr sz="1500">
                <a:solidFill>
                  <a:srgbClr val="E2E8F0"/>
                </a:solidFill>
              </a:defRPr>
            </a:pPr>
            <a:r>
              <a:t>Authenticated Post-Quantum Signatures, Finite-Field MPC, and Neural Sequence Modeling on Private TCR Repertoires</a:t>
            </a:r>
          </a:p>
        </p:txBody>
      </p:sp>
      <p:sp>
        <p:nvSpPr>
          <p:cNvPr id="4" name="Rounded Rectangle 3"/>
          <p:cNvSpPr/>
          <p:nvPr/>
        </p:nvSpPr>
        <p:spPr>
          <a:xfrm>
            <a:off x="1097280" y="4297680"/>
            <a:ext cx="9997135" cy="1828800"/>
          </a:xfrm>
          <a:prstGeom prst="roundRect">
            <a:avLst/>
          </a:prstGeom>
          <a:solidFill>
            <a:srgbClr val="173A5E"/>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434840"/>
            <a:ext cx="9448495" cy="1554480"/>
          </a:xfrm>
          <a:prstGeom prst="rect">
            <a:avLst/>
          </a:prstGeom>
          <a:noFill/>
        </p:spPr>
        <p:txBody>
          <a:bodyPr wrap="square">
            <a:spAutoFit/>
          </a:bodyPr>
          <a:lstStyle/>
          <a:p>
            <a:pPr>
              <a:spcAft>
                <a:spcPts val="400"/>
              </a:spcAft>
              <a:defRPr b="1" sz="1300">
                <a:solidFill>
                  <a:srgbClr val="FFFFFF"/>
                </a:solidFill>
              </a:defRPr>
            </a:pPr>
            <a:r>
              <a:t>Presenter: Harishankar S &amp; Team (Group 8) | Department of Computer Science &amp; Engineering</a:t>
            </a:r>
          </a:p>
          <a:p>
            <a:pPr>
              <a:spcAft>
                <a:spcPts val="400"/>
              </a:spcAft>
              <a:defRPr sz="1200">
                <a:solidFill>
                  <a:srgbClr val="BAE6FD"/>
                </a:solidFill>
              </a:defRPr>
            </a:pPr>
            <a:r>
              <a:t>Technical Advisory: Dr. Thushara A &amp; Mr. Gokul Alex</a:t>
            </a:r>
          </a:p>
          <a:p>
            <a:pPr>
              <a:defRPr sz="1050">
                <a:solidFill>
                  <a:srgbClr val="94A3B8"/>
                </a:solidFill>
              </a:defRPr>
            </a:pPr>
            <a:r>
              <a:t>Artifact Provenance: Git Tag v1.3-audit-final | Commit 7d9d12e | 100% Deterministic Verification (reproduce_all.py)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Executive Summary: Audited Empirical Highlights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2 of 22</a:t>
            </a:r>
          </a:p>
        </p:txBody>
      </p:sp>
      <p:sp>
        <p:nvSpPr>
          <p:cNvPr id="4" name="Rounded Rectangle 3"/>
          <p:cNvSpPr/>
          <p:nvPr/>
        </p:nvSpPr>
        <p:spPr>
          <a:xfrm>
            <a:off x="731520" y="1280160"/>
            <a:ext cx="2468880" cy="1463040"/>
          </a:xfrm>
          <a:prstGeom prst="roundRect">
            <a:avLst/>
          </a:prstGeom>
          <a:solidFill>
            <a:srgbClr val="F8FAFC"/>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2194560" cy="1243584"/>
          </a:xfrm>
          <a:prstGeom prst="rect">
            <a:avLst/>
          </a:prstGeom>
          <a:noFill/>
        </p:spPr>
        <p:txBody>
          <a:bodyPr wrap="square" lIns="0" tIns="0" rIns="0" bIns="0">
            <a:spAutoFit/>
          </a:bodyPr>
          <a:lstStyle/>
          <a:p>
            <a:pPr algn="ctr">
              <a:defRPr sz="2600" b="1">
                <a:solidFill>
                  <a:srgbClr val="065F46"/>
                </a:solidFill>
              </a:defRPr>
            </a:pPr>
            <a:r>
              <a:t>+6.21 pp</a:t>
            </a:r>
          </a:p>
          <a:p>
            <a:pPr algn="ctr">
              <a:spcBef>
                <a:spcPts val="200"/>
              </a:spcBef>
              <a:defRPr sz="1100" b="1">
                <a:solidFill>
                  <a:srgbClr val="1E293B"/>
                </a:solidFill>
              </a:defRPr>
            </a:pPr>
            <a:r>
              <a:t>Federated Utility Gain</a:t>
            </a:r>
          </a:p>
          <a:p>
            <a:pPr algn="ctr">
              <a:spcBef>
                <a:spcPts val="200"/>
              </a:spcBef>
              <a:defRPr sz="850">
                <a:solidFill>
                  <a:srgbClr val="64748B"/>
                </a:solidFill>
              </a:defRPr>
            </a:pPr>
            <a:r>
              <a:t>Paired t=3.84, p=0.00397 (10 seeds)</a:t>
            </a:r>
          </a:p>
        </p:txBody>
      </p:sp>
      <p:sp>
        <p:nvSpPr>
          <p:cNvPr id="6" name="Rounded Rectangle 5"/>
          <p:cNvSpPr/>
          <p:nvPr/>
        </p:nvSpPr>
        <p:spPr>
          <a:xfrm>
            <a:off x="3474720" y="1280160"/>
            <a:ext cx="2468880" cy="1463040"/>
          </a:xfrm>
          <a:prstGeom prst="roundRect">
            <a:avLst/>
          </a:prstGeom>
          <a:solidFill>
            <a:srgbClr val="F8FAFC"/>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389888"/>
            <a:ext cx="2194560" cy="1243584"/>
          </a:xfrm>
          <a:prstGeom prst="rect">
            <a:avLst/>
          </a:prstGeom>
          <a:noFill/>
        </p:spPr>
        <p:txBody>
          <a:bodyPr wrap="square" lIns="0" tIns="0" rIns="0" bIns="0">
            <a:spAutoFit/>
          </a:bodyPr>
          <a:lstStyle/>
          <a:p>
            <a:pPr algn="ctr">
              <a:defRPr sz="2600" b="1">
                <a:solidFill>
                  <a:srgbClr val="2563EB"/>
                </a:solidFill>
              </a:defRPr>
            </a:pPr>
            <a:r>
              <a:t>0.00%</a:t>
            </a:r>
          </a:p>
          <a:p>
            <a:pPr algn="ctr">
              <a:spcBef>
                <a:spcPts val="200"/>
              </a:spcBef>
              <a:defRPr sz="1100" b="1">
                <a:solidFill>
                  <a:srgbClr val="1E293B"/>
                </a:solidFill>
              </a:defRPr>
            </a:pPr>
            <a:r>
              <a:t>MPC Utility Loss</a:t>
            </a:r>
          </a:p>
          <a:p>
            <a:pPr algn="ctr">
              <a:spcBef>
                <a:spcPts val="200"/>
              </a:spcBef>
              <a:defRPr sz="850">
                <a:solidFill>
                  <a:srgbClr val="64748B"/>
                </a:solidFill>
              </a:defRPr>
            </a:pPr>
            <a:r>
              <a:t>max |Δθ| &lt;= 2.4e-7 within scale S</a:t>
            </a:r>
          </a:p>
        </p:txBody>
      </p:sp>
      <p:sp>
        <p:nvSpPr>
          <p:cNvPr id="8" name="Rounded Rectangle 7"/>
          <p:cNvSpPr/>
          <p:nvPr/>
        </p:nvSpPr>
        <p:spPr>
          <a:xfrm>
            <a:off x="6217920" y="1280160"/>
            <a:ext cx="2468880" cy="146304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89888"/>
            <a:ext cx="2194560" cy="1243584"/>
          </a:xfrm>
          <a:prstGeom prst="rect">
            <a:avLst/>
          </a:prstGeom>
          <a:noFill/>
        </p:spPr>
        <p:txBody>
          <a:bodyPr wrap="square" lIns="0" tIns="0" rIns="0" bIns="0">
            <a:spAutoFit/>
          </a:bodyPr>
          <a:lstStyle/>
          <a:p>
            <a:pPr algn="ctr">
              <a:defRPr sz="2600" b="1">
                <a:solidFill>
                  <a:srgbClr val="D97706"/>
                </a:solidFill>
              </a:defRPr>
            </a:pPr>
            <a:r>
              <a:t>3.86%</a:t>
            </a:r>
          </a:p>
          <a:p>
            <a:pPr algn="ctr">
              <a:spcBef>
                <a:spcPts val="200"/>
              </a:spcBef>
              <a:defRPr sz="1100" b="1">
                <a:solidFill>
                  <a:srgbClr val="1E293B"/>
                </a:solidFill>
              </a:defRPr>
            </a:pPr>
            <a:r>
              <a:t>Steady Uplink Bandwidth</a:t>
            </a:r>
          </a:p>
          <a:p>
            <a:pPr algn="ctr">
              <a:spcBef>
                <a:spcPts val="200"/>
              </a:spcBef>
              <a:defRPr sz="850">
                <a:solidFill>
                  <a:srgbClr val="64748B"/>
                </a:solidFill>
              </a:defRPr>
            </a:pPr>
            <a:r>
              <a:t>+3.15 KiB PQ increment at N=50</a:t>
            </a:r>
          </a:p>
        </p:txBody>
      </p:sp>
      <p:sp>
        <p:nvSpPr>
          <p:cNvPr id="10" name="Rounded Rectangle 9"/>
          <p:cNvSpPr/>
          <p:nvPr/>
        </p:nvSpPr>
        <p:spPr>
          <a:xfrm>
            <a:off x="8961120" y="1280160"/>
            <a:ext cx="2468880" cy="1463040"/>
          </a:xfrm>
          <a:prstGeom prst="roundRect">
            <a:avLst/>
          </a:prstGeom>
          <a:solidFill>
            <a:srgbClr val="F8FAFC"/>
          </a:solidFill>
          <a:ln w="1524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389888"/>
            <a:ext cx="2194560" cy="1243584"/>
          </a:xfrm>
          <a:prstGeom prst="rect">
            <a:avLst/>
          </a:prstGeom>
          <a:noFill/>
        </p:spPr>
        <p:txBody>
          <a:bodyPr wrap="square" lIns="0" tIns="0" rIns="0" bIns="0">
            <a:spAutoFit/>
          </a:bodyPr>
          <a:lstStyle/>
          <a:p>
            <a:pPr algn="ctr">
              <a:defRPr sz="2600" b="1">
                <a:solidFill>
                  <a:srgbClr val="991B1B"/>
                </a:solidFill>
              </a:defRPr>
            </a:pPr>
            <a:r>
              <a:t>0.515</a:t>
            </a:r>
          </a:p>
          <a:p>
            <a:pPr algn="ctr">
              <a:spcBef>
                <a:spcPts val="200"/>
              </a:spcBef>
              <a:defRPr sz="1100" b="1">
                <a:solidFill>
                  <a:srgbClr val="1E293B"/>
                </a:solidFill>
              </a:defRPr>
            </a:pPr>
            <a:r>
              <a:t>MIA Privacy Defense</a:t>
            </a:r>
          </a:p>
          <a:p>
            <a:pPr algn="ctr">
              <a:spcBef>
                <a:spcPts val="200"/>
              </a:spcBef>
              <a:defRPr sz="850">
                <a:solidFill>
                  <a:srgbClr val="64748B"/>
                </a:solidFill>
              </a:defRPr>
            </a:pPr>
            <a:r>
              <a:t>Collapses leakage to chance (p=0.0012)</a:t>
            </a:r>
          </a:p>
        </p:txBody>
      </p:sp>
      <p:sp>
        <p:nvSpPr>
          <p:cNvPr id="12" name="Rounded Rectangle 11"/>
          <p:cNvSpPr/>
          <p:nvPr/>
        </p:nvSpPr>
        <p:spPr>
          <a:xfrm>
            <a:off x="731520" y="2926080"/>
            <a:ext cx="10728655"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63240"/>
            <a:ext cx="10362895" cy="320040"/>
          </a:xfrm>
          <a:prstGeom prst="rect">
            <a:avLst/>
          </a:prstGeom>
          <a:noFill/>
        </p:spPr>
        <p:txBody>
          <a:bodyPr wrap="none" lIns="0" tIns="0" rIns="0" bIns="0">
            <a:spAutoFit/>
          </a:bodyPr>
          <a:lstStyle/>
          <a:p>
            <a:pPr>
              <a:defRPr sz="1200" b="1">
                <a:solidFill>
                  <a:srgbClr val="0F2B48"/>
                </a:solidFill>
              </a:defRPr>
            </a:pPr>
            <a:r>
              <a:t>Core Engineering &amp; Architectural Pillars</a:t>
            </a:r>
          </a:p>
        </p:txBody>
      </p:sp>
      <p:sp>
        <p:nvSpPr>
          <p:cNvPr id="14" name="TextBox 13"/>
          <p:cNvSpPr txBox="1"/>
          <p:nvPr/>
        </p:nvSpPr>
        <p:spPr>
          <a:xfrm>
            <a:off x="1005840" y="3383280"/>
            <a:ext cx="10180015" cy="2651760"/>
          </a:xfrm>
          <a:prstGeom prst="rect">
            <a:avLst/>
          </a:prstGeom>
          <a:noFill/>
        </p:spPr>
        <p:txBody>
          <a:bodyPr wrap="square" lIns="0" tIns="0" rIns="0" bIns="0">
            <a:spAutoFit/>
          </a:bodyPr>
          <a:lstStyle/>
          <a:p>
            <a:pPr>
              <a:spcAft>
                <a:spcPts val="800"/>
              </a:spcAft>
            </a:pPr>
            <a:r>
              <a:rPr b="1" sz="1050">
                <a:solidFill>
                  <a:srgbClr val="0F2B48"/>
                </a:solidFill>
              </a:rPr>
              <a:t>• Post-Quantum Authenticated Handshake: </a:t>
            </a:r>
            <a:r>
              <a:rPr sz="1050">
                <a:solidFill>
                  <a:srgbClr val="1E293B"/>
                </a:solidFill>
              </a:rPr>
              <a:t>Complete integration of NIST FIPS 204 (ML-DSA-65) signatures and NIST FIPS 203 (ML-KEM-768) key encapsulation. Shields hospital nodes against quantum 'harvest-now-decrypt-later' attacks.</a:t>
            </a:r>
          </a:p>
          <a:p>
            <a:pPr>
              <a:spcAft>
                <a:spcPts val="800"/>
              </a:spcAft>
            </a:pPr>
            <a:r>
              <a:rPr b="1" sz="1050">
                <a:solidFill>
                  <a:srgbClr val="0F2B48"/>
                </a:solidFill>
              </a:rPr>
              <a:t>• Galois Field Modular Blinding: </a:t>
            </a:r>
            <a:r>
              <a:rPr sz="1050">
                <a:solidFill>
                  <a:srgbClr val="1E293B"/>
                </a:solidFill>
              </a:rPr>
              <a:t>Zero-sum additive parameter masking over a 40-bit prime Z_p (p = 2^40 - 87, scale S = 10^6). Internal noise algebraically cancels out identically during aggregation, providing provable floating-point preservation.</a:t>
            </a:r>
          </a:p>
          <a:p>
            <a:pPr>
              <a:spcAft>
                <a:spcPts val="800"/>
              </a:spcAft>
            </a:pPr>
            <a:r>
              <a:rPr b="1" sz="1050">
                <a:solidFill>
                  <a:srgbClr val="0F2B48"/>
                </a:solidFill>
              </a:rPr>
              <a:t>• Model B Pairwise Shamir Secret Sharing: </a:t>
            </a:r>
            <a:r>
              <a:rPr sz="1050">
                <a:solidFill>
                  <a:srgbClr val="1E293B"/>
                </a:solidFill>
              </a:rPr>
              <a:t>Direct threshold sharing in GF(257) with SHAKE-256 ratchets. Enables exact unmasking of disconnected clients without exposing historical root keys or relying on third-party assisting nodes.</a:t>
            </a:r>
          </a:p>
          <a:p>
            <a:pPr>
              <a:spcAft>
                <a:spcPts val="800"/>
              </a:spcAft>
            </a:pPr>
            <a:r>
              <a:rPr b="1" sz="1050">
                <a:solidFill>
                  <a:srgbClr val="0F2B48"/>
                </a:solidFill>
              </a:rPr>
              <a:t>• TCR Sequence AI Engine: </a:t>
            </a:r>
            <a:r>
              <a:rPr sz="1050">
                <a:solidFill>
                  <a:srgbClr val="1E293B"/>
                </a:solidFill>
              </a:rPr>
              <a:t>Hybrid 1D-CNN motif detector coupled to FastKAN (Kolmogorov-Arnold Networks with Gaussian RBF splines). Validated on 9,420 genuine human TRB sequences from VDJdb under non-IID Dirichlet distribution.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Clinical Challenge: Private Immunological Sequence Sharing</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3 of 22</a:t>
            </a:r>
          </a:p>
        </p:txBody>
      </p:sp>
      <p:sp>
        <p:nvSpPr>
          <p:cNvPr id="4" name="Rounded Rectangle 3"/>
          <p:cNvSpPr/>
          <p:nvPr/>
        </p:nvSpPr>
        <p:spPr>
          <a:xfrm>
            <a:off x="7315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320040"/>
          </a:xfrm>
          <a:prstGeom prst="rect">
            <a:avLst/>
          </a:prstGeom>
          <a:noFill/>
        </p:spPr>
        <p:txBody>
          <a:bodyPr wrap="none" lIns="0" tIns="0" rIns="0" bIns="0">
            <a:spAutoFit/>
          </a:bodyPr>
          <a:lstStyle/>
          <a:p>
            <a:pPr>
              <a:defRPr sz="1200" b="1">
                <a:solidFill>
                  <a:srgbClr val="0F2B48"/>
                </a:solidFill>
              </a:defRPr>
            </a:pPr>
            <a:r>
              <a:t>The Decentralized Healthcare Dilemma</a:t>
            </a:r>
          </a:p>
        </p:txBody>
      </p:sp>
      <p:sp>
        <p:nvSpPr>
          <p:cNvPr id="6" name="TextBox 5"/>
          <p:cNvSpPr txBox="1"/>
          <p:nvPr/>
        </p:nvSpPr>
        <p:spPr>
          <a:xfrm>
            <a:off x="9144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TCR Biological Barcodes: </a:t>
            </a:r>
            <a:r>
              <a:rPr sz="1050">
                <a:solidFill>
                  <a:srgbClr val="1E293B"/>
                </a:solidFill>
              </a:rPr>
              <a:t>T-cell receptor (TCR) beta-chain CDR3 loops are hypervariable sequences generated by somatic V(D)J recombination. They uniquely identify patient immune profiles and antigen exposures.</a:t>
            </a:r>
          </a:p>
          <a:p>
            <a:pPr>
              <a:spcAft>
                <a:spcPts val="800"/>
              </a:spcAft>
            </a:pPr>
            <a:r>
              <a:rPr b="1" sz="1050">
                <a:solidFill>
                  <a:srgbClr val="0F2B48"/>
                </a:solidFill>
              </a:rPr>
              <a:t>• Decentralized Clinical Silos: </a:t>
            </a:r>
            <a:r>
              <a:rPr sz="1050">
                <a:solidFill>
                  <a:srgbClr val="1E293B"/>
                </a:solidFill>
              </a:rPr>
              <a:t>Hospital cancer centers and research consortia hold high-value TCR repertoires critical for training diagnostic and immunotherapy AI models. However, individual hospital datasets are sample-sparse.</a:t>
            </a:r>
          </a:p>
          <a:p>
            <a:pPr>
              <a:spcAft>
                <a:spcPts val="800"/>
              </a:spcAft>
            </a:pPr>
            <a:r>
              <a:rPr b="1" sz="1050">
                <a:solidFill>
                  <a:srgbClr val="0F2B48"/>
                </a:solidFill>
              </a:rPr>
              <a:t>• Regulatory Barriers (HIPAA/GDPR): </a:t>
            </a:r>
            <a:r>
              <a:rPr sz="1050">
                <a:solidFill>
                  <a:srgbClr val="1E293B"/>
                </a:solidFill>
              </a:rPr>
              <a:t>Raw TCR sequences function as genetic identifiers. Direct pooling or central aggregation violates patient confidentiality laws, creating strict data residency silos.</a:t>
            </a:r>
          </a:p>
          <a:p>
            <a:pPr>
              <a:spcAft>
                <a:spcPts val="800"/>
              </a:spcAft>
            </a:pPr>
            <a:r>
              <a:rPr b="1" sz="1050">
                <a:solidFill>
                  <a:srgbClr val="0F2B48"/>
                </a:solidFill>
              </a:rPr>
              <a:t>• Non-IID Distribution Skew: </a:t>
            </a:r>
            <a:r>
              <a:rPr sz="1050">
                <a:solidFill>
                  <a:srgbClr val="1E293B"/>
                </a:solidFill>
              </a:rPr>
              <a:t>Different clinics see divergent pathogen cohorts and patient demographics, causing severe local non-IID label skew (modeled as Dirichlet alpha = 0.5).</a:t>
            </a:r>
          </a:p>
        </p:txBody>
      </p:sp>
      <p:sp>
        <p:nvSpPr>
          <p:cNvPr id="7" name="Rounded Rectangle 6"/>
          <p:cNvSpPr/>
          <p:nvPr/>
        </p:nvSpPr>
        <p:spPr>
          <a:xfrm>
            <a:off x="62179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320040"/>
          </a:xfrm>
          <a:prstGeom prst="rect">
            <a:avLst/>
          </a:prstGeom>
          <a:noFill/>
        </p:spPr>
        <p:txBody>
          <a:bodyPr wrap="none" lIns="0" tIns="0" rIns="0" bIns="0">
            <a:spAutoFit/>
          </a:bodyPr>
          <a:lstStyle/>
          <a:p>
            <a:pPr>
              <a:defRPr sz="1200" b="1">
                <a:solidFill>
                  <a:srgbClr val="0F2B48"/>
                </a:solidFill>
              </a:defRPr>
            </a:pPr>
            <a:r>
              <a:t>Failure Mode: Plain Federated Learning</a:t>
            </a:r>
          </a:p>
        </p:txBody>
      </p:sp>
      <p:sp>
        <p:nvSpPr>
          <p:cNvPr id="9" name="TextBox 8"/>
          <p:cNvSpPr txBox="1"/>
          <p:nvPr/>
        </p:nvSpPr>
        <p:spPr>
          <a:xfrm>
            <a:off x="64008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Gradient Inversion Vulnerability: </a:t>
            </a:r>
            <a:r>
              <a:rPr sz="1050">
                <a:solidFill>
                  <a:srgbClr val="1E293B"/>
                </a:solidFill>
              </a:rPr>
              <a:t>Transmitting plaintext model weights or gradients (W_i) allows an honest-but-curious server to invert parameters and reconstruct sensitive training CDR3 motifs.</a:t>
            </a:r>
          </a:p>
          <a:p>
            <a:pPr>
              <a:spcAft>
                <a:spcPts val="800"/>
              </a:spcAft>
            </a:pPr>
            <a:r>
              <a:rPr b="1" sz="1050">
                <a:solidFill>
                  <a:srgbClr val="0F2B48"/>
                </a:solidFill>
              </a:rPr>
              <a:t>• Empirical Membership Inference (MIA): </a:t>
            </a:r>
            <a:r>
              <a:rPr sz="1050">
                <a:solidFill>
                  <a:srgbClr val="1E293B"/>
                </a:solidFill>
              </a:rPr>
              <a:t>In our 20-seed baseline benchmarks, Plain FedAvg exhibits significant privacy leakage: shadow-dataset MIA achieves AUROC 0.5775 +/- 0.0484 with positive in-batch similarity (+0.2585).</a:t>
            </a:r>
          </a:p>
          <a:p>
            <a:pPr>
              <a:spcAft>
                <a:spcPts val="800"/>
              </a:spcAft>
            </a:pPr>
            <a:r>
              <a:rPr b="1" sz="1050">
                <a:solidFill>
                  <a:srgbClr val="0F2B48"/>
                </a:solidFill>
              </a:rPr>
              <a:t>• Need for Cryptographic Aggregation: </a:t>
            </a:r>
            <a:r>
              <a:rPr sz="1050">
                <a:solidFill>
                  <a:srgbClr val="1E293B"/>
                </a:solidFill>
              </a:rPr>
              <a:t>Provable privacy requires masking model updates prior to uplink transmission, guaranteeing that individual hospital updates remain mathematically indistinguishable from random noise.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Problem Formulation: The Three Compounding Threat Vectors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4 of 22</a:t>
            </a:r>
          </a:p>
        </p:txBody>
      </p:sp>
      <p:sp>
        <p:nvSpPr>
          <p:cNvPr id="4" name="Rounded Rectangle 3"/>
          <p:cNvSpPr/>
          <p:nvPr/>
        </p:nvSpPr>
        <p:spPr>
          <a:xfrm>
            <a:off x="731520" y="1280160"/>
            <a:ext cx="3383280" cy="4846320"/>
          </a:xfrm>
          <a:prstGeom prst="roundRect">
            <a:avLst/>
          </a:prstGeom>
          <a:solidFill>
            <a:srgbClr val="F8FAFC"/>
          </a:solidFill>
          <a:ln w="1524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3017520" cy="320040"/>
          </a:xfrm>
          <a:prstGeom prst="rect">
            <a:avLst/>
          </a:prstGeom>
          <a:noFill/>
        </p:spPr>
        <p:txBody>
          <a:bodyPr wrap="none" lIns="0" tIns="0" rIns="0" bIns="0">
            <a:spAutoFit/>
          </a:bodyPr>
          <a:lstStyle/>
          <a:p>
            <a:pPr>
              <a:defRPr sz="1200" b="1">
                <a:solidFill>
                  <a:srgbClr val="0F2B48"/>
                </a:solidFill>
              </a:defRPr>
            </a:pPr>
            <a:r>
              <a:t>1. Genomic Privacy Breach</a:t>
            </a:r>
          </a:p>
        </p:txBody>
      </p:sp>
      <p:sp>
        <p:nvSpPr>
          <p:cNvPr id="6" name="TextBox 5"/>
          <p:cNvSpPr txBox="1"/>
          <p:nvPr/>
        </p:nvSpPr>
        <p:spPr>
          <a:xfrm>
            <a:off x="914400" y="1920240"/>
            <a:ext cx="3017520" cy="3931920"/>
          </a:xfrm>
          <a:prstGeom prst="rect">
            <a:avLst/>
          </a:prstGeom>
          <a:noFill/>
        </p:spPr>
        <p:txBody>
          <a:bodyPr wrap="square" lIns="0" tIns="0" rIns="0" bIns="0">
            <a:spAutoFit/>
          </a:bodyPr>
          <a:lstStyle/>
          <a:p>
            <a:pPr>
              <a:spcAft>
                <a:spcPts val="800"/>
              </a:spcAft>
            </a:pPr>
            <a:r>
              <a:rPr b="1" sz="1000">
                <a:solidFill>
                  <a:srgbClr val="0F2B48"/>
                </a:solidFill>
              </a:rPr>
              <a:t>• Biological Identification: </a:t>
            </a:r>
            <a:r>
              <a:rPr sz="1000">
                <a:solidFill>
                  <a:srgbClr val="1E293B"/>
                </a:solidFill>
              </a:rPr>
              <a:t>CDR3 amino acid sequences cannot be anonymized without destroying immunological predictive utility.</a:t>
            </a:r>
          </a:p>
          <a:p>
            <a:pPr>
              <a:spcAft>
                <a:spcPts val="800"/>
              </a:spcAft>
            </a:pPr>
            <a:r>
              <a:rPr b="1" sz="1000">
                <a:solidFill>
                  <a:srgbClr val="0F2B48"/>
                </a:solidFill>
              </a:rPr>
              <a:t>• Gradient Inversion Attacks: </a:t>
            </a:r>
            <a:r>
              <a:rPr sz="1000">
                <a:solidFill>
                  <a:srgbClr val="1E293B"/>
                </a:solidFill>
              </a:rPr>
              <a:t>Semi-honest cloud servers utilize optimization-based gradient reconstruction to recover exact training clonotypes.</a:t>
            </a:r>
          </a:p>
          <a:p>
            <a:pPr>
              <a:spcAft>
                <a:spcPts val="800"/>
              </a:spcAft>
            </a:pPr>
            <a:r>
              <a:rPr b="1" sz="1000">
                <a:solidFill>
                  <a:srgbClr val="0F2B48"/>
                </a:solidFill>
              </a:rPr>
              <a:t>• Empirical Leakage: </a:t>
            </a:r>
            <a:r>
              <a:rPr sz="1000">
                <a:solidFill>
                  <a:srgbClr val="1E293B"/>
                </a:solidFill>
              </a:rPr>
              <a:t>Standard FedAvg parameter vectors leak membership status with AUROC 0.578 and strong positive cosine correlation.</a:t>
            </a:r>
          </a:p>
        </p:txBody>
      </p:sp>
      <p:sp>
        <p:nvSpPr>
          <p:cNvPr id="7" name="Rounded Rectangle 6"/>
          <p:cNvSpPr/>
          <p:nvPr/>
        </p:nvSpPr>
        <p:spPr>
          <a:xfrm>
            <a:off x="4389120" y="1280160"/>
            <a:ext cx="3383280" cy="4846320"/>
          </a:xfrm>
          <a:prstGeom prst="roundRect">
            <a:avLst/>
          </a:prstGeom>
          <a:solidFill>
            <a:srgbClr val="F8FAFC"/>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17320"/>
            <a:ext cx="3017520" cy="320040"/>
          </a:xfrm>
          <a:prstGeom prst="rect">
            <a:avLst/>
          </a:prstGeom>
          <a:noFill/>
        </p:spPr>
        <p:txBody>
          <a:bodyPr wrap="none" lIns="0" tIns="0" rIns="0" bIns="0">
            <a:spAutoFit/>
          </a:bodyPr>
          <a:lstStyle/>
          <a:p>
            <a:pPr>
              <a:defRPr sz="1200" b="1">
                <a:solidFill>
                  <a:srgbClr val="0F2B48"/>
                </a:solidFill>
              </a:defRPr>
            </a:pPr>
            <a:r>
              <a:t>2. The Quantum Threat</a:t>
            </a:r>
          </a:p>
        </p:txBody>
      </p:sp>
      <p:sp>
        <p:nvSpPr>
          <p:cNvPr id="9" name="TextBox 8"/>
          <p:cNvSpPr txBox="1"/>
          <p:nvPr/>
        </p:nvSpPr>
        <p:spPr>
          <a:xfrm>
            <a:off x="4572000" y="1920240"/>
            <a:ext cx="3017520" cy="3931920"/>
          </a:xfrm>
          <a:prstGeom prst="rect">
            <a:avLst/>
          </a:prstGeom>
          <a:noFill/>
        </p:spPr>
        <p:txBody>
          <a:bodyPr wrap="square" lIns="0" tIns="0" rIns="0" bIns="0">
            <a:spAutoFit/>
          </a:bodyPr>
          <a:lstStyle/>
          <a:p>
            <a:pPr>
              <a:spcAft>
                <a:spcPts val="800"/>
              </a:spcAft>
            </a:pPr>
            <a:r>
              <a:rPr b="1" sz="1000">
                <a:solidFill>
                  <a:srgbClr val="0F2B48"/>
                </a:solidFill>
              </a:rPr>
              <a:t>• Shor's Algorithm Horizon: </a:t>
            </a:r>
            <a:r>
              <a:rPr sz="1000">
                <a:solidFill>
                  <a:srgbClr val="1E293B"/>
                </a:solidFill>
              </a:rPr>
              <a:t>Classical public-key cryptosystems (RSA, ECDH, Ed25519) solve discrete log / factoring in polynomial quantum time.</a:t>
            </a:r>
          </a:p>
          <a:p>
            <a:pPr>
              <a:spcAft>
                <a:spcPts val="800"/>
              </a:spcAft>
            </a:pPr>
            <a:r>
              <a:rPr b="1" sz="1000">
                <a:solidFill>
                  <a:srgbClr val="0F2B48"/>
                </a:solidFill>
              </a:rPr>
              <a:t>• Harvest Now, Decrypt Later: </a:t>
            </a:r>
            <a:r>
              <a:rPr sz="1000">
                <a:solidFill>
                  <a:srgbClr val="1E293B"/>
                </a:solidFill>
              </a:rPr>
              <a:t>Hostile adversaries intercept and record encrypted healthcare traffic today, preparing to decrypt patient genomes when CRQCs emerge.</a:t>
            </a:r>
          </a:p>
          <a:p>
            <a:pPr>
              <a:spcAft>
                <a:spcPts val="800"/>
              </a:spcAft>
            </a:pPr>
            <a:r>
              <a:rPr b="1" sz="1000">
                <a:solidFill>
                  <a:srgbClr val="0F2B48"/>
                </a:solidFill>
              </a:rPr>
              <a:t>• Long Regulatory Lifespan: </a:t>
            </a:r>
            <a:r>
              <a:rPr sz="1000">
                <a:solidFill>
                  <a:srgbClr val="1E293B"/>
                </a:solidFill>
              </a:rPr>
              <a:t>Clinical genomic data requires 20-50+ years of legal secrecy, mandating immediate post-quantum migration.</a:t>
            </a:r>
          </a:p>
        </p:txBody>
      </p:sp>
      <p:sp>
        <p:nvSpPr>
          <p:cNvPr id="10" name="Rounded Rectangle 9"/>
          <p:cNvSpPr/>
          <p:nvPr/>
        </p:nvSpPr>
        <p:spPr>
          <a:xfrm>
            <a:off x="8046720" y="1280160"/>
            <a:ext cx="3383280" cy="484632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417320"/>
            <a:ext cx="3017520" cy="320040"/>
          </a:xfrm>
          <a:prstGeom prst="rect">
            <a:avLst/>
          </a:prstGeom>
          <a:noFill/>
        </p:spPr>
        <p:txBody>
          <a:bodyPr wrap="none" lIns="0" tIns="0" rIns="0" bIns="0">
            <a:spAutoFit/>
          </a:bodyPr>
          <a:lstStyle/>
          <a:p>
            <a:pPr>
              <a:defRPr sz="1200" b="1">
                <a:solidFill>
                  <a:srgbClr val="0F2B48"/>
                </a:solidFill>
              </a:defRPr>
            </a:pPr>
            <a:r>
              <a:t>3. Network Dropouts</a:t>
            </a:r>
          </a:p>
        </p:txBody>
      </p:sp>
      <p:sp>
        <p:nvSpPr>
          <p:cNvPr id="12" name="TextBox 11"/>
          <p:cNvSpPr txBox="1"/>
          <p:nvPr/>
        </p:nvSpPr>
        <p:spPr>
          <a:xfrm>
            <a:off x="8229600" y="1920240"/>
            <a:ext cx="3017520" cy="3931920"/>
          </a:xfrm>
          <a:prstGeom prst="rect">
            <a:avLst/>
          </a:prstGeom>
          <a:noFill/>
        </p:spPr>
        <p:txBody>
          <a:bodyPr wrap="square" lIns="0" tIns="0" rIns="0" bIns="0">
            <a:spAutoFit/>
          </a:bodyPr>
          <a:lstStyle/>
          <a:p>
            <a:pPr>
              <a:spcAft>
                <a:spcPts val="800"/>
              </a:spcAft>
            </a:pPr>
            <a:r>
              <a:rPr b="1" sz="1000">
                <a:solidFill>
                  <a:srgbClr val="0F2B48"/>
                </a:solidFill>
              </a:rPr>
              <a:t>• Pairwise Noise Stranding: </a:t>
            </a:r>
            <a:r>
              <a:rPr sz="1000">
                <a:solidFill>
                  <a:srgbClr val="1E293B"/>
                </a:solidFill>
              </a:rPr>
              <a:t>In symmetric zero-sum masking, Client A adds +s and Client B subtracts -s. If Client B drops offline, +s is permanently stranded.</a:t>
            </a:r>
          </a:p>
          <a:p>
            <a:pPr>
              <a:spcAft>
                <a:spcPts val="800"/>
              </a:spcAft>
            </a:pPr>
            <a:r>
              <a:rPr b="1" sz="1000">
                <a:solidFill>
                  <a:srgbClr val="0F2B48"/>
                </a:solidFill>
              </a:rPr>
              <a:t>• Aggregation Corruption: </a:t>
            </a:r>
            <a:r>
              <a:rPr sz="1000">
                <a:solidFill>
                  <a:srgbClr val="1E293B"/>
                </a:solidFill>
              </a:rPr>
              <a:t>Without dynamic unmasking, stranded pairwise noise ruins convergence, collapsing global model training.</a:t>
            </a:r>
          </a:p>
          <a:p>
            <a:pPr>
              <a:spcAft>
                <a:spcPts val="800"/>
              </a:spcAft>
            </a:pPr>
            <a:r>
              <a:rPr b="1" sz="1000">
                <a:solidFill>
                  <a:srgbClr val="0F2B48"/>
                </a:solidFill>
              </a:rPr>
              <a:t>• Forward Secrecy Challenge: </a:t>
            </a:r>
            <a:r>
              <a:rPr sz="1000">
                <a:solidFill>
                  <a:srgbClr val="1E293B"/>
                </a:solidFill>
              </a:rPr>
              <a:t>Reconstructing dropouts must never expose past round keys or persistent identities across hospital cohorts.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Literature Review &amp; Architectural Positioning</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5 of 22</a:t>
            </a:r>
          </a:p>
        </p:txBody>
      </p:sp>
      <p:graphicFrame>
        <p:nvGraphicFramePr>
          <p:cNvPr id="4" name="Table 3"/>
          <p:cNvGraphicFramePr>
            <a:graphicFrameLocks noGrp="1"/>
          </p:cNvGraphicFramePr>
          <p:nvPr/>
        </p:nvGraphicFramePr>
        <p:xfrm>
          <a:off x="731520" y="1371600"/>
          <a:ext cx="10698480" cy="3474720"/>
        </p:xfrm>
        <a:graphic>
          <a:graphicData uri="http://schemas.openxmlformats.org/drawingml/2006/table">
            <a:tbl>
              <a:tblPr firstRow="1" bandRow="1">
                <a:tableStyleId>{5C22544A-7EE6-4342-B048-85BDC9FD1C3A}</a:tableStyleId>
              </a:tblPr>
              <a:tblGrid>
                <a:gridCol w="2286000"/>
                <a:gridCol w="1280160"/>
                <a:gridCol w="1371600"/>
                <a:gridCol w="1645920"/>
                <a:gridCol w="1463040"/>
                <a:gridCol w="1280160"/>
                <a:gridCol w="1371600"/>
              </a:tblGrid>
              <a:tr h="496388">
                <a:tc>
                  <a:txBody>
                    <a:bodyPr/>
                    <a:lstStyle/>
                    <a:p>
                      <a:pPr algn="ctr">
                        <a:defRPr b="1" sz="1000">
                          <a:solidFill>
                            <a:srgbClr val="FFFFFF"/>
                          </a:solidFill>
                        </a:defRPr>
                      </a:pPr>
                      <a:r>
                        <a:t>Framework / Baseline</a:t>
                      </a:r>
                    </a:p>
                  </a:txBody>
                  <a:tcPr anchor="ctr">
                    <a:solidFill>
                      <a:srgbClr val="0F2B48"/>
                    </a:solidFill>
                  </a:tcPr>
                </a:tc>
                <a:tc>
                  <a:txBody>
                    <a:bodyPr/>
                    <a:lstStyle/>
                    <a:p>
                      <a:pPr algn="ctr">
                        <a:defRPr b="1" sz="1000">
                          <a:solidFill>
                            <a:srgbClr val="FFFFFF"/>
                          </a:solidFill>
                        </a:defRPr>
                      </a:pPr>
                      <a:r>
                        <a:t>PQC Secure?</a:t>
                      </a:r>
                    </a:p>
                  </a:txBody>
                  <a:tcPr anchor="ctr">
                    <a:solidFill>
                      <a:srgbClr val="0F2B48"/>
                    </a:solidFill>
                  </a:tcPr>
                </a:tc>
                <a:tc>
                  <a:txBody>
                    <a:bodyPr/>
                    <a:lstStyle/>
                    <a:p>
                      <a:pPr algn="ctr">
                        <a:defRPr b="1" sz="1000">
                          <a:solidFill>
                            <a:srgbClr val="FFFFFF"/>
                          </a:solidFill>
                        </a:defRPr>
                      </a:pPr>
                      <a:r>
                        <a:t>Asymmetric KEM?</a:t>
                      </a:r>
                    </a:p>
                  </a:txBody>
                  <a:tcPr anchor="ctr">
                    <a:solidFill>
                      <a:srgbClr val="0F2B48"/>
                    </a:solidFill>
                  </a:tcPr>
                </a:tc>
                <a:tc>
                  <a:txBody>
                    <a:bodyPr/>
                    <a:lstStyle/>
                    <a:p>
                      <a:pPr algn="ctr">
                        <a:defRPr b="1" sz="1000">
                          <a:solidFill>
                            <a:srgbClr val="FFFFFF"/>
                          </a:solidFill>
                        </a:defRPr>
                      </a:pPr>
                      <a:r>
                        <a:t>Dropout Fault-Tolerant?</a:t>
                      </a:r>
                    </a:p>
                  </a:txBody>
                  <a:tcPr anchor="ctr">
                    <a:solidFill>
                      <a:srgbClr val="0F2B48"/>
                    </a:solidFill>
                  </a:tcPr>
                </a:tc>
                <a:tc>
                  <a:txBody>
                    <a:bodyPr/>
                    <a:lstStyle/>
                    <a:p>
                      <a:pPr algn="ctr">
                        <a:defRPr b="1" sz="1000">
                          <a:solidFill>
                            <a:srgbClr val="FFFFFF"/>
                          </a:solidFill>
                        </a:defRPr>
                      </a:pPr>
                      <a:r>
                        <a:t>Exact FP Preserved?</a:t>
                      </a:r>
                    </a:p>
                  </a:txBody>
                  <a:tcPr anchor="ctr">
                    <a:solidFill>
                      <a:srgbClr val="0F2B48"/>
                    </a:solidFill>
                  </a:tcPr>
                </a:tc>
                <a:tc>
                  <a:txBody>
                    <a:bodyPr/>
                    <a:lstStyle/>
                    <a:p>
                      <a:pPr algn="ctr">
                        <a:defRPr b="1" sz="1000">
                          <a:solidFill>
                            <a:srgbClr val="FFFFFF"/>
                          </a:solidFill>
                        </a:defRPr>
                      </a:pPr>
                      <a:r>
                        <a:t>Uplink Expansion</a:t>
                      </a:r>
                    </a:p>
                  </a:txBody>
                  <a:tcPr anchor="ctr">
                    <a:solidFill>
                      <a:srgbClr val="0F2B48"/>
                    </a:solidFill>
                  </a:tcPr>
                </a:tc>
                <a:tc>
                  <a:txBody>
                    <a:bodyPr/>
                    <a:lstStyle/>
                    <a:p>
                      <a:pPr algn="ctr">
                        <a:defRPr b="1" sz="1000">
                          <a:solidFill>
                            <a:srgbClr val="FFFFFF"/>
                          </a:solidFill>
                        </a:defRPr>
                      </a:pPr>
                      <a:r>
                        <a:t>Validated on Bio Data?</a:t>
                      </a:r>
                    </a:p>
                  </a:txBody>
                  <a:tcPr anchor="ctr">
                    <a:solidFill>
                      <a:srgbClr val="0F2B48"/>
                    </a:solidFill>
                  </a:tcPr>
                </a:tc>
              </a:tr>
              <a:tr h="496388">
                <a:tc>
                  <a:txBody>
                    <a:bodyPr/>
                    <a:lstStyle/>
                    <a:p>
                      <a:pPr algn="l">
                        <a:defRPr sz="950" b="1">
                          <a:solidFill>
                            <a:srgbClr val="1E293B"/>
                          </a:solidFill>
                        </a:defRPr>
                      </a:pPr>
                      <a:r>
                        <a:t>Plain FedAvg (McMahan 2017)</a:t>
                      </a:r>
                    </a:p>
                  </a:txBody>
                  <a:tcPr anchor="ctr">
                    <a:solidFill>
                      <a:srgbClr val="FFFFFF"/>
                    </a:solidFill>
                  </a:tcPr>
                </a:tc>
                <a:tc>
                  <a:txBody>
                    <a:bodyPr/>
                    <a:lstStyle/>
                    <a:p>
                      <a:pPr algn="ctr">
                        <a:defRPr sz="950">
                          <a:solidFill>
                            <a:srgbClr val="1E293B"/>
                          </a:solidFill>
                        </a:defRPr>
                      </a:pPr>
                      <a:r>
                        <a:t>No (Plain)</a:t>
                      </a:r>
                    </a:p>
                  </a:txBody>
                  <a:tcPr anchor="ctr">
                    <a:solidFill>
                      <a:srgbClr val="FFFFFF"/>
                    </a:solidFill>
                  </a:tcPr>
                </a:tc>
                <a:tc>
                  <a:txBody>
                    <a:bodyPr/>
                    <a:lstStyle/>
                    <a:p>
                      <a:pPr algn="ctr">
                        <a:defRPr sz="950">
                          <a:solidFill>
                            <a:srgbClr val="1E293B"/>
                          </a:solidFill>
                        </a:defRPr>
                      </a:pPr>
                      <a:r>
                        <a:t>N/A</a:t>
                      </a:r>
                    </a:p>
                  </a:txBody>
                  <a:tcPr anchor="ctr">
                    <a:solidFill>
                      <a:srgbClr val="FFFFFF"/>
                    </a:solidFill>
                  </a:tcPr>
                </a:tc>
                <a:tc>
                  <a:txBody>
                    <a:bodyPr/>
                    <a:lstStyle/>
                    <a:p>
                      <a:pPr algn="ctr">
                        <a:defRPr sz="950">
                          <a:solidFill>
                            <a:srgbClr val="1E293B"/>
                          </a:solidFill>
                        </a:defRPr>
                      </a:pPr>
                      <a:r>
                        <a:t>Yes (No Masks)</a:t>
                      </a:r>
                    </a:p>
                  </a:txBody>
                  <a:tcPr anchor="ctr">
                    <a:solidFill>
                      <a:srgbClr val="FFFFFF"/>
                    </a:solidFill>
                  </a:tcPr>
                </a:tc>
                <a:tc>
                  <a:txBody>
                    <a:bodyPr/>
                    <a:lstStyle/>
                    <a:p>
                      <a:pPr algn="ctr">
                        <a:defRPr sz="950">
                          <a:solidFill>
                            <a:srgbClr val="1E293B"/>
                          </a:solidFill>
                        </a:defRPr>
                      </a:pPr>
                      <a:r>
                        <a:t>Yes (Float32)</a:t>
                      </a:r>
                    </a:p>
                  </a:txBody>
                  <a:tcPr anchor="ctr">
                    <a:solidFill>
                      <a:srgbClr val="FFFFFF"/>
                    </a:solidFill>
                  </a:tcPr>
                </a:tc>
                <a:tc>
                  <a:txBody>
                    <a:bodyPr/>
                    <a:lstStyle/>
                    <a:p>
                      <a:pPr algn="ctr">
                        <a:defRPr sz="950">
                          <a:solidFill>
                            <a:srgbClr val="1E293B"/>
                          </a:solidFill>
                        </a:defRPr>
                      </a:pPr>
                      <a:r>
                        <a:t>None (1.0x)</a:t>
                      </a:r>
                    </a:p>
                  </a:txBody>
                  <a:tcPr anchor="ctr">
                    <a:solidFill>
                      <a:srgbClr val="FFFFFF"/>
                    </a:solidFill>
                  </a:tcPr>
                </a:tc>
                <a:tc>
                  <a:txBody>
                    <a:bodyPr/>
                    <a:lstStyle/>
                    <a:p>
                      <a:pPr algn="ctr">
                        <a:defRPr sz="950">
                          <a:solidFill>
                            <a:srgbClr val="1E293B"/>
                          </a:solidFill>
                        </a:defRPr>
                      </a:pPr>
                      <a:r>
                        <a:t>Yes (Diverse)</a:t>
                      </a:r>
                    </a:p>
                  </a:txBody>
                  <a:tcPr anchor="ctr">
                    <a:solidFill>
                      <a:srgbClr val="FFFFFF"/>
                    </a:solidFill>
                  </a:tcPr>
                </a:tc>
              </a:tr>
              <a:tr h="496388">
                <a:tc>
                  <a:txBody>
                    <a:bodyPr/>
                    <a:lstStyle/>
                    <a:p>
                      <a:pPr algn="l">
                        <a:defRPr sz="950" b="1">
                          <a:solidFill>
                            <a:srgbClr val="1E293B"/>
                          </a:solidFill>
                        </a:defRPr>
                      </a:pPr>
                      <a:r>
                        <a:t>SecAgg (Bonawitz CCS 2017)</a:t>
                      </a:r>
                    </a:p>
                  </a:txBody>
                  <a:tcPr anchor="ctr">
                    <a:solidFill>
                      <a:srgbClr val="F1F5F9"/>
                    </a:solidFill>
                  </a:tcPr>
                </a:tc>
                <a:tc>
                  <a:txBody>
                    <a:bodyPr/>
                    <a:lstStyle/>
                    <a:p>
                      <a:pPr algn="ctr">
                        <a:defRPr sz="950">
                          <a:solidFill>
                            <a:srgbClr val="1E293B"/>
                          </a:solidFill>
                        </a:defRPr>
                      </a:pPr>
                      <a:r>
                        <a:t>No (DH / AES)</a:t>
                      </a:r>
                    </a:p>
                  </a:txBody>
                  <a:tcPr anchor="ctr">
                    <a:solidFill>
                      <a:srgbClr val="F1F5F9"/>
                    </a:solidFill>
                  </a:tcPr>
                </a:tc>
                <a:tc>
                  <a:txBody>
                    <a:bodyPr/>
                    <a:lstStyle/>
                    <a:p>
                      <a:pPr algn="ctr">
                        <a:defRPr sz="950">
                          <a:solidFill>
                            <a:srgbClr val="1E293B"/>
                          </a:solidFill>
                        </a:defRPr>
                      </a:pPr>
                      <a:r>
                        <a:t>No (ECDH)</a:t>
                      </a:r>
                    </a:p>
                  </a:txBody>
                  <a:tcPr anchor="ctr">
                    <a:solidFill>
                      <a:srgbClr val="F1F5F9"/>
                    </a:solidFill>
                  </a:tcPr>
                </a:tc>
                <a:tc>
                  <a:txBody>
                    <a:bodyPr/>
                    <a:lstStyle/>
                    <a:p>
                      <a:pPr algn="ctr">
                        <a:defRPr sz="950">
                          <a:solidFill>
                            <a:srgbClr val="1E293B"/>
                          </a:solidFill>
                        </a:defRPr>
                      </a:pPr>
                      <a:r>
                        <a:t>Yes (Shamir on sk)</a:t>
                      </a:r>
                    </a:p>
                  </a:txBody>
                  <a:tcPr anchor="ctr">
                    <a:solidFill>
                      <a:srgbClr val="F1F5F9"/>
                    </a:solidFill>
                  </a:tcPr>
                </a:tc>
                <a:tc>
                  <a:txBody>
                    <a:bodyPr/>
                    <a:lstStyle/>
                    <a:p>
                      <a:pPr algn="ctr">
                        <a:defRPr sz="950">
                          <a:solidFill>
                            <a:srgbClr val="1E293B"/>
                          </a:solidFill>
                        </a:defRPr>
                      </a:pPr>
                      <a:r>
                        <a:t>Yes (Quantized)</a:t>
                      </a:r>
                    </a:p>
                  </a:txBody>
                  <a:tcPr anchor="ctr">
                    <a:solidFill>
                      <a:srgbClr val="F1F5F9"/>
                    </a:solidFill>
                  </a:tcPr>
                </a:tc>
                <a:tc>
                  <a:txBody>
                    <a:bodyPr/>
                    <a:lstStyle/>
                    <a:p>
                      <a:pPr algn="ctr">
                        <a:defRPr sz="950">
                          <a:solidFill>
                            <a:srgbClr val="1E293B"/>
                          </a:solidFill>
                        </a:defRPr>
                      </a:pPr>
                      <a:r>
                        <a:t>O(N) Shares</a:t>
                      </a:r>
                    </a:p>
                  </a:txBody>
                  <a:tcPr anchor="ctr">
                    <a:solidFill>
                      <a:srgbClr val="F1F5F9"/>
                    </a:solidFill>
                  </a:tcPr>
                </a:tc>
                <a:tc>
                  <a:txBody>
                    <a:bodyPr/>
                    <a:lstStyle/>
                    <a:p>
                      <a:pPr algn="ctr">
                        <a:defRPr sz="950">
                          <a:solidFill>
                            <a:srgbClr val="1E293B"/>
                          </a:solidFill>
                        </a:defRPr>
                      </a:pPr>
                      <a:r>
                        <a:t>Synthetic Benchmarks</a:t>
                      </a:r>
                    </a:p>
                  </a:txBody>
                  <a:tcPr anchor="ctr">
                    <a:solidFill>
                      <a:srgbClr val="F1F5F9"/>
                    </a:solidFill>
                  </a:tcPr>
                </a:tc>
              </a:tr>
              <a:tr h="496388">
                <a:tc>
                  <a:txBody>
                    <a:bodyPr/>
                    <a:lstStyle/>
                    <a:p>
                      <a:pPr algn="l">
                        <a:defRPr sz="950" b="1">
                          <a:solidFill>
                            <a:srgbClr val="1E293B"/>
                          </a:solidFill>
                        </a:defRPr>
                      </a:pPr>
                      <a:r>
                        <a:t>SecAgg+ (Choi et al. 2020)</a:t>
                      </a:r>
                    </a:p>
                  </a:txBody>
                  <a:tcPr anchor="ctr">
                    <a:solidFill>
                      <a:srgbClr val="FFFFFF"/>
                    </a:solidFill>
                  </a:tcPr>
                </a:tc>
                <a:tc>
                  <a:txBody>
                    <a:bodyPr/>
                    <a:lstStyle/>
                    <a:p>
                      <a:pPr algn="ctr">
                        <a:defRPr sz="950">
                          <a:solidFill>
                            <a:srgbClr val="1E293B"/>
                          </a:solidFill>
                        </a:defRPr>
                      </a:pPr>
                      <a:r>
                        <a:t>No (Classical)</a:t>
                      </a:r>
                    </a:p>
                  </a:txBody>
                  <a:tcPr anchor="ctr">
                    <a:solidFill>
                      <a:srgbClr val="FFFFFF"/>
                    </a:solidFill>
                  </a:tcPr>
                </a:tc>
                <a:tc>
                  <a:txBody>
                    <a:bodyPr/>
                    <a:lstStyle/>
                    <a:p>
                      <a:pPr algn="ctr">
                        <a:defRPr sz="950">
                          <a:solidFill>
                            <a:srgbClr val="1E293B"/>
                          </a:solidFill>
                        </a:defRPr>
                      </a:pPr>
                      <a:r>
                        <a:t>No (Symmetric)</a:t>
                      </a:r>
                    </a:p>
                  </a:txBody>
                  <a:tcPr anchor="ctr">
                    <a:solidFill>
                      <a:srgbClr val="FFFFFF"/>
                    </a:solidFill>
                  </a:tcPr>
                </a:tc>
                <a:tc>
                  <a:txBody>
                    <a:bodyPr/>
                    <a:lstStyle/>
                    <a:p>
                      <a:pPr algn="ctr">
                        <a:defRPr sz="950">
                          <a:solidFill>
                            <a:srgbClr val="1E293B"/>
                          </a:solidFill>
                        </a:defRPr>
                      </a:pPr>
                      <a:r>
                        <a:t>Yes (Random Graph)</a:t>
                      </a:r>
                    </a:p>
                  </a:txBody>
                  <a:tcPr anchor="ctr">
                    <a:solidFill>
                      <a:srgbClr val="FFFFFF"/>
                    </a:solidFill>
                  </a:tcPr>
                </a:tc>
                <a:tc>
                  <a:txBody>
                    <a:bodyPr/>
                    <a:lstStyle/>
                    <a:p>
                      <a:pPr algn="ctr">
                        <a:defRPr sz="950">
                          <a:solidFill>
                            <a:srgbClr val="1E293B"/>
                          </a:solidFill>
                        </a:defRPr>
                      </a:pPr>
                      <a:r>
                        <a:t>Yes (Quantized)</a:t>
                      </a:r>
                    </a:p>
                  </a:txBody>
                  <a:tcPr anchor="ctr">
                    <a:solidFill>
                      <a:srgbClr val="FFFFFF"/>
                    </a:solidFill>
                  </a:tcPr>
                </a:tc>
                <a:tc>
                  <a:txBody>
                    <a:bodyPr/>
                    <a:lstStyle/>
                    <a:p>
                      <a:pPr algn="ctr">
                        <a:defRPr sz="950">
                          <a:solidFill>
                            <a:srgbClr val="1E293B"/>
                          </a:solidFill>
                        </a:defRPr>
                      </a:pPr>
                      <a:r>
                        <a:t>O(log N)</a:t>
                      </a:r>
                    </a:p>
                  </a:txBody>
                  <a:tcPr anchor="ctr">
                    <a:solidFill>
                      <a:srgbClr val="FFFFFF"/>
                    </a:solidFill>
                  </a:tcPr>
                </a:tc>
                <a:tc>
                  <a:txBody>
                    <a:bodyPr/>
                    <a:lstStyle/>
                    <a:p>
                      <a:pPr algn="ctr">
                        <a:defRPr sz="950">
                          <a:solidFill>
                            <a:srgbClr val="1E293B"/>
                          </a:solidFill>
                        </a:defRPr>
                      </a:pPr>
                      <a:r>
                        <a:t>Synthetic Benchmarks</a:t>
                      </a:r>
                    </a:p>
                  </a:txBody>
                  <a:tcPr anchor="ctr">
                    <a:solidFill>
                      <a:srgbClr val="FFFFFF"/>
                    </a:solidFill>
                  </a:tcPr>
                </a:tc>
              </a:tr>
              <a:tr h="496388">
                <a:tc>
                  <a:txBody>
                    <a:bodyPr/>
                    <a:lstStyle/>
                    <a:p>
                      <a:pPr algn="l">
                        <a:defRPr sz="950" b="1">
                          <a:solidFill>
                            <a:srgbClr val="1E293B"/>
                          </a:solidFill>
                        </a:defRPr>
                      </a:pPr>
                      <a:r>
                        <a:t>Cheetah (Huang et al. 2021)</a:t>
                      </a:r>
                    </a:p>
                  </a:txBody>
                  <a:tcPr anchor="ctr">
                    <a:solidFill>
                      <a:srgbClr val="F1F5F9"/>
                    </a:solidFill>
                  </a:tcPr>
                </a:tc>
                <a:tc>
                  <a:txBody>
                    <a:bodyPr/>
                    <a:lstStyle/>
                    <a:p>
                      <a:pPr algn="ctr">
                        <a:defRPr sz="950">
                          <a:solidFill>
                            <a:srgbClr val="1E293B"/>
                          </a:solidFill>
                        </a:defRPr>
                      </a:pPr>
                      <a:r>
                        <a:t>Yes (LHE / Ring)</a:t>
                      </a:r>
                    </a:p>
                  </a:txBody>
                  <a:tcPr anchor="ctr">
                    <a:solidFill>
                      <a:srgbClr val="F1F5F9"/>
                    </a:solidFill>
                  </a:tcPr>
                </a:tc>
                <a:tc>
                  <a:txBody>
                    <a:bodyPr/>
                    <a:lstStyle/>
                    <a:p>
                      <a:pPr algn="ctr">
                        <a:defRPr sz="950">
                          <a:solidFill>
                            <a:srgbClr val="1E293B"/>
                          </a:solidFill>
                        </a:defRPr>
                      </a:pPr>
                      <a:r>
                        <a:t>No (LHE only)</a:t>
                      </a:r>
                    </a:p>
                  </a:txBody>
                  <a:tcPr anchor="ctr">
                    <a:solidFill>
                      <a:srgbClr val="F1F5F9"/>
                    </a:solidFill>
                  </a:tcPr>
                </a:tc>
                <a:tc>
                  <a:txBody>
                    <a:bodyPr/>
                    <a:lstStyle/>
                    <a:p>
                      <a:pPr algn="ctr">
                        <a:defRPr sz="950">
                          <a:solidFill>
                            <a:srgbClr val="1E293B"/>
                          </a:solidFill>
                        </a:defRPr>
                      </a:pPr>
                      <a:r>
                        <a:t>Limited (HE Setup)</a:t>
                      </a:r>
                    </a:p>
                  </a:txBody>
                  <a:tcPr anchor="ctr">
                    <a:solidFill>
                      <a:srgbClr val="F1F5F9"/>
                    </a:solidFill>
                  </a:tcPr>
                </a:tc>
                <a:tc>
                  <a:txBody>
                    <a:bodyPr/>
                    <a:lstStyle/>
                    <a:p>
                      <a:pPr algn="ctr">
                        <a:defRPr sz="950">
                          <a:solidFill>
                            <a:srgbClr val="1E293B"/>
                          </a:solidFill>
                        </a:defRPr>
                      </a:pPr>
                      <a:r>
                        <a:t>Approximated (CKKS)</a:t>
                      </a:r>
                    </a:p>
                  </a:txBody>
                  <a:tcPr anchor="ctr">
                    <a:solidFill>
                      <a:srgbClr val="F1F5F9"/>
                    </a:solidFill>
                  </a:tcPr>
                </a:tc>
                <a:tc>
                  <a:txBody>
                    <a:bodyPr/>
                    <a:lstStyle/>
                    <a:p>
                      <a:pPr algn="ctr">
                        <a:defRPr sz="950">
                          <a:solidFill>
                            <a:srgbClr val="1E293B"/>
                          </a:solidFill>
                        </a:defRPr>
                      </a:pPr>
                      <a:r>
                        <a:t>20x-100x Payload</a:t>
                      </a:r>
                    </a:p>
                  </a:txBody>
                  <a:tcPr anchor="ctr">
                    <a:solidFill>
                      <a:srgbClr val="F1F5F9"/>
                    </a:solidFill>
                  </a:tcPr>
                </a:tc>
                <a:tc>
                  <a:txBody>
                    <a:bodyPr/>
                    <a:lstStyle/>
                    <a:p>
                      <a:pPr algn="ctr">
                        <a:defRPr sz="950">
                          <a:solidFill>
                            <a:srgbClr val="1E293B"/>
                          </a:solidFill>
                        </a:defRPr>
                      </a:pPr>
                      <a:r>
                        <a:t>Vision Datasets</a:t>
                      </a:r>
                    </a:p>
                  </a:txBody>
                  <a:tcPr anchor="ctr">
                    <a:solidFill>
                      <a:srgbClr val="F1F5F9"/>
                    </a:solidFill>
                  </a:tcPr>
                </a:tc>
              </a:tr>
              <a:tr h="496388">
                <a:tc>
                  <a:txBody>
                    <a:bodyPr/>
                    <a:lstStyle/>
                    <a:p>
                      <a:pPr algn="l">
                        <a:defRPr sz="950" b="1">
                          <a:solidFill>
                            <a:srgbClr val="1E293B"/>
                          </a:solidFill>
                        </a:defRPr>
                      </a:pPr>
                      <a:r>
                        <a:t>Assisting-Node PQC (2025)</a:t>
                      </a:r>
                    </a:p>
                  </a:txBody>
                  <a:tcPr anchor="ctr">
                    <a:solidFill>
                      <a:srgbClr val="FFFFFF"/>
                    </a:solidFill>
                  </a:tcPr>
                </a:tc>
                <a:tc>
                  <a:txBody>
                    <a:bodyPr/>
                    <a:lstStyle/>
                    <a:p>
                      <a:pPr algn="ctr">
                        <a:defRPr sz="950">
                          <a:solidFill>
                            <a:srgbClr val="1E293B"/>
                          </a:solidFill>
                        </a:defRPr>
                      </a:pPr>
                      <a:r>
                        <a:t>Yes (Kyber/Dilithium)</a:t>
                      </a:r>
                    </a:p>
                  </a:txBody>
                  <a:tcPr anchor="ctr">
                    <a:solidFill>
                      <a:srgbClr val="FFFFFF"/>
                    </a:solidFill>
                  </a:tcPr>
                </a:tc>
                <a:tc>
                  <a:txBody>
                    <a:bodyPr/>
                    <a:lstStyle/>
                    <a:p>
                      <a:pPr algn="ctr">
                        <a:defRPr sz="950">
                          <a:solidFill>
                            <a:srgbClr val="1E293B"/>
                          </a:solidFill>
                        </a:defRPr>
                      </a:pPr>
                      <a:r>
                        <a:t>Yes (KEM)</a:t>
                      </a:r>
                    </a:p>
                  </a:txBody>
                  <a:tcPr anchor="ctr">
                    <a:solidFill>
                      <a:srgbClr val="FFFFFF"/>
                    </a:solidFill>
                  </a:tcPr>
                </a:tc>
                <a:tc>
                  <a:txBody>
                    <a:bodyPr/>
                    <a:lstStyle/>
                    <a:p>
                      <a:pPr algn="ctr">
                        <a:defRPr sz="950">
                          <a:solidFill>
                            <a:srgbClr val="1E293B"/>
                          </a:solidFill>
                        </a:defRPr>
                      </a:pPr>
                      <a:r>
                        <a:t>Yes (Assisting Node)</a:t>
                      </a:r>
                    </a:p>
                  </a:txBody>
                  <a:tcPr anchor="ctr">
                    <a:solidFill>
                      <a:srgbClr val="FFFFFF"/>
                    </a:solidFill>
                  </a:tcPr>
                </a:tc>
                <a:tc>
                  <a:txBody>
                    <a:bodyPr/>
                    <a:lstStyle/>
                    <a:p>
                      <a:pPr algn="ctr">
                        <a:defRPr sz="950">
                          <a:solidFill>
                            <a:srgbClr val="1E293B"/>
                          </a:solidFill>
                        </a:defRPr>
                      </a:pPr>
                      <a:r>
                        <a:t>Yes (Quantized)</a:t>
                      </a:r>
                    </a:p>
                  </a:txBody>
                  <a:tcPr anchor="ctr">
                    <a:solidFill>
                      <a:srgbClr val="FFFFFF"/>
                    </a:solidFill>
                  </a:tcPr>
                </a:tc>
                <a:tc>
                  <a:txBody>
                    <a:bodyPr/>
                    <a:lstStyle/>
                    <a:p>
                      <a:pPr algn="ctr">
                        <a:defRPr sz="950">
                          <a:solidFill>
                            <a:srgbClr val="1E293B"/>
                          </a:solidFill>
                        </a:defRPr>
                      </a:pPr>
                      <a:r>
                        <a:t>External Dependency</a:t>
                      </a:r>
                    </a:p>
                  </a:txBody>
                  <a:tcPr anchor="ctr">
                    <a:solidFill>
                      <a:srgbClr val="FFFFFF"/>
                    </a:solidFill>
                  </a:tcPr>
                </a:tc>
                <a:tc>
                  <a:txBody>
                    <a:bodyPr/>
                    <a:lstStyle/>
                    <a:p>
                      <a:pPr algn="ctr">
                        <a:defRPr sz="950">
                          <a:solidFill>
                            <a:srgbClr val="1E293B"/>
                          </a:solidFill>
                        </a:defRPr>
                      </a:pPr>
                      <a:r>
                        <a:t>MNIST / Synthetic</a:t>
                      </a:r>
                    </a:p>
                  </a:txBody>
                  <a:tcPr anchor="ctr">
                    <a:solidFill>
                      <a:srgbClr val="FFFFFF"/>
                    </a:solidFill>
                  </a:tcPr>
                </a:tc>
              </a:tr>
              <a:tr h="496392">
                <a:tc>
                  <a:txBody>
                    <a:bodyPr/>
                    <a:lstStyle/>
                    <a:p>
                      <a:pPr algn="l">
                        <a:defRPr sz="950" b="1">
                          <a:solidFill>
                            <a:srgbClr val="1E293B"/>
                          </a:solidFill>
                        </a:defRPr>
                      </a:pPr>
                      <a:r>
                        <a:t>RODENTNET (This Work)</a:t>
                      </a:r>
                    </a:p>
                  </a:txBody>
                  <a:tcPr anchor="ctr">
                    <a:solidFill>
                      <a:srgbClr val="F1F5F9"/>
                    </a:solidFill>
                  </a:tcPr>
                </a:tc>
                <a:tc>
                  <a:txBody>
                    <a:bodyPr/>
                    <a:lstStyle/>
                    <a:p>
                      <a:pPr algn="ctr">
                        <a:defRPr sz="950">
                          <a:solidFill>
                            <a:srgbClr val="1E293B"/>
                          </a:solidFill>
                        </a:defRPr>
                      </a:pPr>
                      <a:r>
                        <a:t>Yes (FIPS 203/204)</a:t>
                      </a:r>
                    </a:p>
                  </a:txBody>
                  <a:tcPr anchor="ctr">
                    <a:solidFill>
                      <a:srgbClr val="F1F5F9"/>
                    </a:solidFill>
                  </a:tcPr>
                </a:tc>
                <a:tc>
                  <a:txBody>
                    <a:bodyPr/>
                    <a:lstStyle/>
                    <a:p>
                      <a:pPr algn="ctr">
                        <a:defRPr sz="950">
                          <a:solidFill>
                            <a:srgbClr val="1E293B"/>
                          </a:solidFill>
                        </a:defRPr>
                      </a:pPr>
                      <a:r>
                        <a:t>Yes (ML-KEM-768)</a:t>
                      </a:r>
                    </a:p>
                  </a:txBody>
                  <a:tcPr anchor="ctr">
                    <a:solidFill>
                      <a:srgbClr val="F1F5F9"/>
                    </a:solidFill>
                  </a:tcPr>
                </a:tc>
                <a:tc>
                  <a:txBody>
                    <a:bodyPr/>
                    <a:lstStyle/>
                    <a:p>
                      <a:pPr algn="ctr">
                        <a:defRPr sz="950">
                          <a:solidFill>
                            <a:srgbClr val="1E293B"/>
                          </a:solidFill>
                        </a:defRPr>
                      </a:pPr>
                      <a:r>
                        <a:t>Yes (Model B Shamir)</a:t>
                      </a:r>
                    </a:p>
                  </a:txBody>
                  <a:tcPr anchor="ctr">
                    <a:solidFill>
                      <a:srgbClr val="F1F5F9"/>
                    </a:solidFill>
                  </a:tcPr>
                </a:tc>
                <a:tc>
                  <a:txBody>
                    <a:bodyPr/>
                    <a:lstStyle/>
                    <a:p>
                      <a:pPr algn="ctr">
                        <a:defRPr sz="950">
                          <a:solidFill>
                            <a:srgbClr val="1E293B"/>
                          </a:solidFill>
                        </a:defRPr>
                      </a:pPr>
                      <a:r>
                        <a:t>Yes (Δθ &lt;= 2.4e-7)</a:t>
                      </a:r>
                    </a:p>
                  </a:txBody>
                  <a:tcPr anchor="ctr">
                    <a:solidFill>
                      <a:srgbClr val="F1F5F9"/>
                    </a:solidFill>
                  </a:tcPr>
                </a:tc>
                <a:tc>
                  <a:txBody>
                    <a:bodyPr/>
                    <a:lstStyle/>
                    <a:p>
                      <a:pPr algn="ctr">
                        <a:defRPr sz="950">
                          <a:solidFill>
                            <a:srgbClr val="1E293B"/>
                          </a:solidFill>
                        </a:defRPr>
                      </a:pPr>
                      <a:r>
                        <a:t>&lt; 3.86% Overhead</a:t>
                      </a:r>
                    </a:p>
                  </a:txBody>
                  <a:tcPr anchor="ctr">
                    <a:solidFill>
                      <a:srgbClr val="F1F5F9"/>
                    </a:solidFill>
                  </a:tcPr>
                </a:tc>
                <a:tc>
                  <a:txBody>
                    <a:bodyPr/>
                    <a:lstStyle/>
                    <a:p>
                      <a:pPr algn="ctr">
                        <a:defRPr sz="950">
                          <a:solidFill>
                            <a:srgbClr val="1E293B"/>
                          </a:solidFill>
                        </a:defRPr>
                      </a:pPr>
                      <a:r>
                        <a:t>Human TCR (VDJdb)</a:t>
                      </a:r>
                    </a:p>
                  </a:txBody>
                  <a:tcPr anchor="ctr">
                    <a:solidFill>
                      <a:srgbClr val="F1F5F9"/>
                    </a:solidFill>
                  </a:tcPr>
                </a:tc>
              </a:tr>
            </a:tbl>
          </a:graphicData>
        </a:graphic>
      </p:graphicFrame>
      <p:sp>
        <p:nvSpPr>
          <p:cNvPr id="5" name="Rounded Rectangle 4"/>
          <p:cNvSpPr/>
          <p:nvPr/>
        </p:nvSpPr>
        <p:spPr>
          <a:xfrm>
            <a:off x="731520" y="512064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57800"/>
            <a:ext cx="10362895" cy="320040"/>
          </a:xfrm>
          <a:prstGeom prst="rect">
            <a:avLst/>
          </a:prstGeom>
          <a:noFill/>
        </p:spPr>
        <p:txBody>
          <a:bodyPr wrap="none" lIns="0" tIns="0" rIns="0" bIns="0">
            <a:spAutoFit/>
          </a:bodyPr>
          <a:lstStyle/>
          <a:p>
            <a:pPr>
              <a:defRPr sz="1200" b="1">
                <a:solidFill>
                  <a:srgbClr val="0F2B48"/>
                </a:solidFill>
              </a:defRPr>
            </a:pPr>
            <a:r>
              <a:t>Key Architectural Distinction</a:t>
            </a:r>
          </a:p>
        </p:txBody>
      </p:sp>
      <p:sp>
        <p:nvSpPr>
          <p:cNvPr id="7" name="TextBox 6"/>
          <p:cNvSpPr txBox="1"/>
          <p:nvPr/>
        </p:nvSpPr>
        <p:spPr>
          <a:xfrm>
            <a:off x="914400" y="5440680"/>
            <a:ext cx="10332720" cy="640080"/>
          </a:xfrm>
          <a:prstGeom prst="rect">
            <a:avLst/>
          </a:prstGeom>
          <a:noFill/>
        </p:spPr>
        <p:txBody>
          <a:bodyPr wrap="square">
            <a:spAutoFit/>
          </a:bodyPr>
          <a:lstStyle/>
          <a:p>
            <a:pPr>
              <a:defRPr sz="1000">
                <a:solidFill>
                  <a:srgbClr val="0F2B48"/>
                </a:solidFill>
              </a:defRPr>
            </a:pPr>
            <a:r>
              <a:t>RodentNet is the first framework combining NIST FIPS post-quantum standards (ML-KEM-768 / ML-DSA-65) with Galois field zero-sum masking and Model B Shamir sharing, eliminating 100x homomorphic bandwidth explosions and third-party assisting nodes while proving zero empirical utility loss on real clinical TCR sequences.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System Architecture: End-to-End Network Topology</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6 of 22</a:t>
            </a:r>
          </a:p>
        </p:txBody>
      </p:sp>
      <p:pic>
        <p:nvPicPr>
          <p:cNvPr id="4" name="Picture 3" descr="system_topology_architecture.png"/>
          <p:cNvPicPr>
            <a:picLocks noChangeAspect="1"/>
          </p:cNvPicPr>
          <p:nvPr/>
        </p:nvPicPr>
        <p:blipFill>
          <a:blip r:embed="rId2"/>
          <a:stretch>
            <a:fillRect/>
          </a:stretch>
        </p:blipFill>
        <p:spPr>
          <a:xfrm>
            <a:off x="731520" y="1280160"/>
            <a:ext cx="6583680" cy="4056611"/>
          </a:xfrm>
          <a:prstGeom prst="rect">
            <a:avLst/>
          </a:prstGeom>
        </p:spPr>
      </p:pic>
      <p:sp>
        <p:nvSpPr>
          <p:cNvPr id="5" name="Rounded Rectangle 4"/>
          <p:cNvSpPr/>
          <p:nvPr/>
        </p:nvSpPr>
        <p:spPr>
          <a:xfrm>
            <a:off x="7589520" y="1280160"/>
            <a:ext cx="38404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417320"/>
            <a:ext cx="3474720" cy="320040"/>
          </a:xfrm>
          <a:prstGeom prst="rect">
            <a:avLst/>
          </a:prstGeom>
          <a:noFill/>
        </p:spPr>
        <p:txBody>
          <a:bodyPr wrap="none" lIns="0" tIns="0" rIns="0" bIns="0">
            <a:spAutoFit/>
          </a:bodyPr>
          <a:lstStyle/>
          <a:p>
            <a:pPr>
              <a:defRPr sz="1200" b="1">
                <a:solidFill>
                  <a:srgbClr val="0F2B48"/>
                </a:solidFill>
              </a:defRPr>
            </a:pPr>
            <a:r>
              <a:t>Topology Specifications</a:t>
            </a:r>
          </a:p>
        </p:txBody>
      </p:sp>
      <p:sp>
        <p:nvSpPr>
          <p:cNvPr id="7" name="TextBox 6"/>
          <p:cNvSpPr txBox="1"/>
          <p:nvPr/>
        </p:nvSpPr>
        <p:spPr>
          <a:xfrm>
            <a:off x="7772400" y="1828800"/>
            <a:ext cx="3474720" cy="4114800"/>
          </a:xfrm>
          <a:prstGeom prst="rect">
            <a:avLst/>
          </a:prstGeom>
          <a:noFill/>
        </p:spPr>
        <p:txBody>
          <a:bodyPr wrap="square" lIns="0" tIns="0" rIns="0" bIns="0">
            <a:spAutoFit/>
          </a:bodyPr>
          <a:lstStyle/>
          <a:p>
            <a:pPr>
              <a:spcAft>
                <a:spcPts val="800"/>
              </a:spcAft>
            </a:pPr>
            <a:r>
              <a:rPr b="1" sz="1000">
                <a:solidFill>
                  <a:srgbClr val="0F2B48"/>
                </a:solidFill>
              </a:rPr>
              <a:t>• Central Server (Cloud): </a:t>
            </a:r>
            <a:r>
              <a:rPr sz="1000">
                <a:solidFill>
                  <a:srgbClr val="1E293B"/>
                </a:solidFill>
              </a:rPr>
              <a:t>FastAPI / Starlette asynchronous orchestration. Verifies ML-DSA-65 client signatures, coordinates round phases, executes modular zero-sum accumulation in Z_p, and reconstructs dropouts.</a:t>
            </a:r>
          </a:p>
          <a:p>
            <a:pPr>
              <a:spcAft>
                <a:spcPts val="800"/>
              </a:spcAft>
            </a:pPr>
            <a:r>
              <a:rPr b="1" sz="1000">
                <a:solidFill>
                  <a:srgbClr val="0F2B48"/>
                </a:solidFill>
              </a:rPr>
              <a:t>• Hospital Edge Clients: </a:t>
            </a:r>
            <a:r>
              <a:rPr sz="1000">
                <a:solidFill>
                  <a:srgbClr val="1E293B"/>
                </a:solidFill>
              </a:rPr>
              <a:t>Independent hospital clinics (Hospital A, B, C) holding non-overlapping TCR clonotypes under Dirichlet skew (alpha = 0.5). Train local FastKAN models and apply Galois blinding.</a:t>
            </a:r>
          </a:p>
          <a:p>
            <a:pPr>
              <a:spcAft>
                <a:spcPts val="800"/>
              </a:spcAft>
            </a:pPr>
            <a:r>
              <a:rPr b="1" sz="1000">
                <a:solidFill>
                  <a:srgbClr val="0F2B48"/>
                </a:solidFill>
              </a:rPr>
              <a:t>• Pairwise Post-Quantum Mesh: </a:t>
            </a:r>
            <a:r>
              <a:rPr sz="1000">
                <a:solidFill>
                  <a:srgbClr val="1E293B"/>
                </a:solidFill>
              </a:rPr>
              <a:t>Direct client-to-client ML-KEM-768 seed agreement. Ephemeral seeds are established peer-to-peer without central server mediation.</a:t>
            </a:r>
          </a:p>
          <a:p>
            <a:pPr>
              <a:spcAft>
                <a:spcPts val="800"/>
              </a:spcAft>
            </a:pPr>
            <a:r>
              <a:rPr b="1" sz="1000">
                <a:solidFill>
                  <a:srgbClr val="0F2B48"/>
                </a:solidFill>
              </a:rPr>
              <a:t>• Authenticated Uplink: </a:t>
            </a:r>
            <a:r>
              <a:rPr sz="1000">
                <a:solidFill>
                  <a:srgbClr val="1E293B"/>
                </a:solidFill>
              </a:rPr>
              <a:t>Masked parameter vectors x_tilde_i uploaded alongside 3,293-byte ML-DSA-65 digital signatures, preventing man-in-the-middle tampering.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Methodology Pipeline: Full-Stack Execution Workflow</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7 of 22</a:t>
            </a:r>
          </a:p>
        </p:txBody>
      </p:sp>
      <p:pic>
        <p:nvPicPr>
          <p:cNvPr id="4" name="Picture 3" descr="methodology_pipeline_flow.png"/>
          <p:cNvPicPr>
            <a:picLocks noChangeAspect="1"/>
          </p:cNvPicPr>
          <p:nvPr/>
        </p:nvPicPr>
        <p:blipFill>
          <a:blip r:embed="rId2"/>
          <a:stretch>
            <a:fillRect/>
          </a:stretch>
        </p:blipFill>
        <p:spPr>
          <a:xfrm>
            <a:off x="731520" y="1280160"/>
            <a:ext cx="10728655" cy="624937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Local Sequence AI Engine: Top10KANClassifier</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8 of 22</a:t>
            </a:r>
          </a:p>
        </p:txBody>
      </p:sp>
      <p:sp>
        <p:nvSpPr>
          <p:cNvPr id="4" name="Rounded Rectangle 3"/>
          <p:cNvSpPr/>
          <p:nvPr/>
        </p:nvSpPr>
        <p:spPr>
          <a:xfrm>
            <a:off x="7315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320040"/>
          </a:xfrm>
          <a:prstGeom prst="rect">
            <a:avLst/>
          </a:prstGeom>
          <a:noFill/>
        </p:spPr>
        <p:txBody>
          <a:bodyPr wrap="none" lIns="0" tIns="0" rIns="0" bIns="0">
            <a:spAutoFit/>
          </a:bodyPr>
          <a:lstStyle/>
          <a:p>
            <a:pPr>
              <a:defRPr sz="1200" b="1">
                <a:solidFill>
                  <a:srgbClr val="0F2B48"/>
                </a:solidFill>
              </a:defRPr>
            </a:pPr>
            <a:r>
              <a:t>Neural Architecture Breakdown</a:t>
            </a:r>
          </a:p>
        </p:txBody>
      </p:sp>
      <p:sp>
        <p:nvSpPr>
          <p:cNvPr id="6" name="TextBox 5"/>
          <p:cNvSpPr txBox="1"/>
          <p:nvPr/>
        </p:nvSpPr>
        <p:spPr>
          <a:xfrm>
            <a:off x="9144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Input Representation: </a:t>
            </a:r>
            <a:r>
              <a:rPr sz="1050">
                <a:solidFill>
                  <a:srgbClr val="1E293B"/>
                </a:solidFill>
              </a:rPr>
              <a:t>CDR3 beta sequences padded/truncated to L=30 amino acids. One-hot encoded into 20-dimensional space (shape: 30 x 20).</a:t>
            </a:r>
          </a:p>
          <a:p>
            <a:pPr>
              <a:spcAft>
                <a:spcPts val="800"/>
              </a:spcAft>
            </a:pPr>
            <a:r>
              <a:rPr b="1" sz="1050">
                <a:solidFill>
                  <a:srgbClr val="0F2B48"/>
                </a:solidFill>
              </a:rPr>
              <a:t>• 1D-CNN Motif Extraction: </a:t>
            </a:r>
            <a:r>
              <a:rPr sz="1050">
                <a:solidFill>
                  <a:srgbClr val="1E293B"/>
                </a:solidFill>
              </a:rPr>
              <a:t>Two sequential 1D convolutional layers with 128 channels and kernel size k=3. Detects tripeptide motifs and structural anchor patterns in the CDR3 loop.</a:t>
            </a:r>
          </a:p>
          <a:p>
            <a:pPr>
              <a:spcAft>
                <a:spcPts val="800"/>
              </a:spcAft>
            </a:pPr>
            <a:r>
              <a:rPr b="1" sz="1050">
                <a:solidFill>
                  <a:srgbClr val="0F2B48"/>
                </a:solidFill>
              </a:rPr>
              <a:t>• Kolmogorov-Arnold Network (FastKAN): </a:t>
            </a:r>
            <a:r>
              <a:rPr sz="1050">
                <a:solidFill>
                  <a:srgbClr val="1E293B"/>
                </a:solidFill>
              </a:rPr>
              <a:t>Replaces conventional MLP with FastKAN spline activations. Uses Gaussian Radial Basis Function (RBF) kernels over 5 grid intervals to parameterize learnable non-linear univariate functions.</a:t>
            </a:r>
          </a:p>
          <a:p>
            <a:pPr>
              <a:spcAft>
                <a:spcPts val="800"/>
              </a:spcAft>
            </a:pPr>
            <a:r>
              <a:rPr b="1" sz="1050">
                <a:solidFill>
                  <a:srgbClr val="0F2B48"/>
                </a:solidFill>
              </a:rPr>
              <a:t>• Classification Head: </a:t>
            </a:r>
            <a:r>
              <a:rPr sz="1050">
                <a:solidFill>
                  <a:srgbClr val="1E293B"/>
                </a:solidFill>
              </a:rPr>
              <a:t>Linear projection to 10 epitope logits: GILGFVFTL (Influenza), NLVPMVATV (CMV), GLCTLVAML (EBV), etc.</a:t>
            </a:r>
          </a:p>
          <a:p>
            <a:pPr>
              <a:spcAft>
                <a:spcPts val="800"/>
              </a:spcAft>
            </a:pPr>
            <a:r>
              <a:rPr b="1" sz="1050">
                <a:solidFill>
                  <a:srgbClr val="0F2B48"/>
                </a:solidFill>
              </a:rPr>
              <a:t>• Optimization: </a:t>
            </a:r>
            <a:r>
              <a:rPr sz="1050">
                <a:solidFill>
                  <a:srgbClr val="1E293B"/>
                </a:solidFill>
              </a:rPr>
              <a:t>Trained with cross-entropy loss, AdamW optimizer, cosine annealing schedule, and batch size 32.</a:t>
            </a:r>
          </a:p>
        </p:txBody>
      </p:sp>
      <p:sp>
        <p:nvSpPr>
          <p:cNvPr id="7" name="Rounded Rectangle 6"/>
          <p:cNvSpPr/>
          <p:nvPr/>
        </p:nvSpPr>
        <p:spPr>
          <a:xfrm>
            <a:off x="62179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320040"/>
          </a:xfrm>
          <a:prstGeom prst="rect">
            <a:avLst/>
          </a:prstGeom>
          <a:noFill/>
        </p:spPr>
        <p:txBody>
          <a:bodyPr wrap="none" lIns="0" tIns="0" rIns="0" bIns="0">
            <a:spAutoFit/>
          </a:bodyPr>
          <a:lstStyle/>
          <a:p>
            <a:pPr>
              <a:defRPr sz="1200" b="1">
                <a:solidFill>
                  <a:srgbClr val="0F2B48"/>
                </a:solidFill>
              </a:defRPr>
            </a:pPr>
            <a:r>
              <a:t>Model Specifications &amp; Complexity</a:t>
            </a:r>
          </a:p>
        </p:txBody>
      </p:sp>
      <p:graphicFrame>
        <p:nvGraphicFramePr>
          <p:cNvPr id="9" name="Table 8"/>
          <p:cNvGraphicFramePr>
            <a:graphicFrameLocks noGrp="1"/>
          </p:cNvGraphicFramePr>
          <p:nvPr/>
        </p:nvGraphicFramePr>
        <p:xfrm>
          <a:off x="6400800" y="1828800"/>
          <a:ext cx="5029200" cy="2377440"/>
        </p:xfrm>
        <a:graphic>
          <a:graphicData uri="http://schemas.openxmlformats.org/drawingml/2006/table">
            <a:tbl>
              <a:tblPr firstRow="1" bandRow="1">
                <a:tableStyleId>{5C22544A-7EE6-4342-B048-85BDC9FD1C3A}</a:tableStyleId>
              </a:tblPr>
              <a:tblGrid>
                <a:gridCol w="1645920"/>
                <a:gridCol w="1280160"/>
                <a:gridCol w="1188720"/>
                <a:gridCol w="914400"/>
              </a:tblGrid>
              <a:tr h="339634">
                <a:tc>
                  <a:txBody>
                    <a:bodyPr/>
                    <a:lstStyle/>
                    <a:p>
                      <a:pPr algn="ctr">
                        <a:defRPr b="1" sz="1000">
                          <a:solidFill>
                            <a:srgbClr val="FFFFFF"/>
                          </a:solidFill>
                        </a:defRPr>
                      </a:pPr>
                      <a:r>
                        <a:t>Component</a:t>
                      </a:r>
                    </a:p>
                  </a:txBody>
                  <a:tcPr anchor="ctr">
                    <a:solidFill>
                      <a:srgbClr val="0F2B48"/>
                    </a:solidFill>
                  </a:tcPr>
                </a:tc>
                <a:tc>
                  <a:txBody>
                    <a:bodyPr/>
                    <a:lstStyle/>
                    <a:p>
                      <a:pPr algn="ctr">
                        <a:defRPr b="1" sz="1000">
                          <a:solidFill>
                            <a:srgbClr val="FFFFFF"/>
                          </a:solidFill>
                        </a:defRPr>
                      </a:pPr>
                      <a:r>
                        <a:t>Output Shape</a:t>
                      </a:r>
                    </a:p>
                  </a:txBody>
                  <a:tcPr anchor="ctr">
                    <a:solidFill>
                      <a:srgbClr val="0F2B48"/>
                    </a:solidFill>
                  </a:tcPr>
                </a:tc>
                <a:tc>
                  <a:txBody>
                    <a:bodyPr/>
                    <a:lstStyle/>
                    <a:p>
                      <a:pPr algn="ctr">
                        <a:defRPr b="1" sz="1000">
                          <a:solidFill>
                            <a:srgbClr val="FFFFFF"/>
                          </a:solidFill>
                        </a:defRPr>
                      </a:pPr>
                      <a:r>
                        <a:t>Parameters</a:t>
                      </a:r>
                    </a:p>
                  </a:txBody>
                  <a:tcPr anchor="ctr">
                    <a:solidFill>
                      <a:srgbClr val="0F2B48"/>
                    </a:solidFill>
                  </a:tcPr>
                </a:tc>
                <a:tc>
                  <a:txBody>
                    <a:bodyPr/>
                    <a:lstStyle/>
                    <a:p>
                      <a:pPr algn="ctr">
                        <a:defRPr b="1" sz="1000">
                          <a:solidFill>
                            <a:srgbClr val="FFFFFF"/>
                          </a:solidFill>
                        </a:defRPr>
                      </a:pPr>
                      <a:r>
                        <a:t>Precision</a:t>
                      </a:r>
                    </a:p>
                  </a:txBody>
                  <a:tcPr anchor="ctr">
                    <a:solidFill>
                      <a:srgbClr val="0F2B48"/>
                    </a:solidFill>
                  </a:tcPr>
                </a:tc>
              </a:tr>
              <a:tr h="339634">
                <a:tc>
                  <a:txBody>
                    <a:bodyPr/>
                    <a:lstStyle/>
                    <a:p>
                      <a:pPr algn="l">
                        <a:defRPr sz="950" b="1">
                          <a:solidFill>
                            <a:srgbClr val="1E293B"/>
                          </a:solidFill>
                        </a:defRPr>
                      </a:pPr>
                      <a:r>
                        <a:t>Input Layer</a:t>
                      </a:r>
                    </a:p>
                  </a:txBody>
                  <a:tcPr anchor="ctr">
                    <a:solidFill>
                      <a:srgbClr val="FFFFFF"/>
                    </a:solidFill>
                  </a:tcPr>
                </a:tc>
                <a:tc>
                  <a:txBody>
                    <a:bodyPr/>
                    <a:lstStyle/>
                    <a:p>
                      <a:pPr algn="ctr">
                        <a:defRPr sz="950">
                          <a:solidFill>
                            <a:srgbClr val="1E293B"/>
                          </a:solidFill>
                        </a:defRPr>
                      </a:pPr>
                      <a:r>
                        <a:t>(Batch, 20, 30)</a:t>
                      </a:r>
                    </a:p>
                  </a:txBody>
                  <a:tcPr anchor="ctr">
                    <a:solidFill>
                      <a:srgbClr val="FFFFFF"/>
                    </a:solidFill>
                  </a:tcPr>
                </a:tc>
                <a:tc>
                  <a:txBody>
                    <a:bodyPr/>
                    <a:lstStyle/>
                    <a:p>
                      <a:pPr algn="ctr">
                        <a:defRPr sz="950">
                          <a:solidFill>
                            <a:srgbClr val="1E293B"/>
                          </a:solidFill>
                        </a:defRPr>
                      </a:pPr>
                      <a:r>
                        <a:t>0</a:t>
                      </a:r>
                    </a:p>
                  </a:txBody>
                  <a:tcPr anchor="ctr">
                    <a:solidFill>
                      <a:srgbClr val="FFFFFF"/>
                    </a:solidFill>
                  </a:tcPr>
                </a:tc>
                <a:tc>
                  <a:txBody>
                    <a:bodyPr/>
                    <a:lstStyle/>
                    <a:p>
                      <a:pPr algn="ctr">
                        <a:defRPr sz="950">
                          <a:solidFill>
                            <a:srgbClr val="1E293B"/>
                          </a:solidFill>
                        </a:defRPr>
                      </a:pPr>
                      <a:r>
                        <a:t>Float32</a:t>
                      </a:r>
                    </a:p>
                  </a:txBody>
                  <a:tcPr anchor="ctr">
                    <a:solidFill>
                      <a:srgbClr val="FFFFFF"/>
                    </a:solidFill>
                  </a:tcPr>
                </a:tc>
              </a:tr>
              <a:tr h="339634">
                <a:tc>
                  <a:txBody>
                    <a:bodyPr/>
                    <a:lstStyle/>
                    <a:p>
                      <a:pPr algn="l">
                        <a:defRPr sz="950" b="1">
                          <a:solidFill>
                            <a:srgbClr val="1E293B"/>
                          </a:solidFill>
                        </a:defRPr>
                      </a:pPr>
                      <a:r>
                        <a:t>Conv1D Block 1</a:t>
                      </a:r>
                    </a:p>
                  </a:txBody>
                  <a:tcPr anchor="ctr">
                    <a:solidFill>
                      <a:srgbClr val="F1F5F9"/>
                    </a:solidFill>
                  </a:tcPr>
                </a:tc>
                <a:tc>
                  <a:txBody>
                    <a:bodyPr/>
                    <a:lstStyle/>
                    <a:p>
                      <a:pPr algn="ctr">
                        <a:defRPr sz="950">
                          <a:solidFill>
                            <a:srgbClr val="1E293B"/>
                          </a:solidFill>
                        </a:defRPr>
                      </a:pPr>
                      <a:r>
                        <a:t>(Batch, 128, 28)</a:t>
                      </a:r>
                    </a:p>
                  </a:txBody>
                  <a:tcPr anchor="ctr">
                    <a:solidFill>
                      <a:srgbClr val="F1F5F9"/>
                    </a:solidFill>
                  </a:tcPr>
                </a:tc>
                <a:tc>
                  <a:txBody>
                    <a:bodyPr/>
                    <a:lstStyle/>
                    <a:p>
                      <a:pPr algn="ctr">
                        <a:defRPr sz="950">
                          <a:solidFill>
                            <a:srgbClr val="1E293B"/>
                          </a:solidFill>
                        </a:defRPr>
                      </a:pPr>
                      <a:r>
                        <a:t>7,808</a:t>
                      </a:r>
                    </a:p>
                  </a:txBody>
                  <a:tcPr anchor="ctr">
                    <a:solidFill>
                      <a:srgbClr val="F1F5F9"/>
                    </a:solidFill>
                  </a:tcPr>
                </a:tc>
                <a:tc>
                  <a:txBody>
                    <a:bodyPr/>
                    <a:lstStyle/>
                    <a:p>
                      <a:pPr algn="ctr">
                        <a:defRPr sz="950">
                          <a:solidFill>
                            <a:srgbClr val="1E293B"/>
                          </a:solidFill>
                        </a:defRPr>
                      </a:pPr>
                      <a:r>
                        <a:t>Float32</a:t>
                      </a:r>
                    </a:p>
                  </a:txBody>
                  <a:tcPr anchor="ctr">
                    <a:solidFill>
                      <a:srgbClr val="F1F5F9"/>
                    </a:solidFill>
                  </a:tcPr>
                </a:tc>
              </a:tr>
              <a:tr h="339634">
                <a:tc>
                  <a:txBody>
                    <a:bodyPr/>
                    <a:lstStyle/>
                    <a:p>
                      <a:pPr algn="l">
                        <a:defRPr sz="950" b="1">
                          <a:solidFill>
                            <a:srgbClr val="1E293B"/>
                          </a:solidFill>
                        </a:defRPr>
                      </a:pPr>
                      <a:r>
                        <a:t>Conv1D Block 2</a:t>
                      </a:r>
                    </a:p>
                  </a:txBody>
                  <a:tcPr anchor="ctr">
                    <a:solidFill>
                      <a:srgbClr val="FFFFFF"/>
                    </a:solidFill>
                  </a:tcPr>
                </a:tc>
                <a:tc>
                  <a:txBody>
                    <a:bodyPr/>
                    <a:lstStyle/>
                    <a:p>
                      <a:pPr algn="ctr">
                        <a:defRPr sz="950">
                          <a:solidFill>
                            <a:srgbClr val="1E293B"/>
                          </a:solidFill>
                        </a:defRPr>
                      </a:pPr>
                      <a:r>
                        <a:t>(Batch, 128, 26)</a:t>
                      </a:r>
                    </a:p>
                  </a:txBody>
                  <a:tcPr anchor="ctr">
                    <a:solidFill>
                      <a:srgbClr val="FFFFFF"/>
                    </a:solidFill>
                  </a:tcPr>
                </a:tc>
                <a:tc>
                  <a:txBody>
                    <a:bodyPr/>
                    <a:lstStyle/>
                    <a:p>
                      <a:pPr algn="ctr">
                        <a:defRPr sz="950">
                          <a:solidFill>
                            <a:srgbClr val="1E293B"/>
                          </a:solidFill>
                        </a:defRPr>
                      </a:pPr>
                      <a:r>
                        <a:t>49,280</a:t>
                      </a:r>
                    </a:p>
                  </a:txBody>
                  <a:tcPr anchor="ctr">
                    <a:solidFill>
                      <a:srgbClr val="FFFFFF"/>
                    </a:solidFill>
                  </a:tcPr>
                </a:tc>
                <a:tc>
                  <a:txBody>
                    <a:bodyPr/>
                    <a:lstStyle/>
                    <a:p>
                      <a:pPr algn="ctr">
                        <a:defRPr sz="950">
                          <a:solidFill>
                            <a:srgbClr val="1E293B"/>
                          </a:solidFill>
                        </a:defRPr>
                      </a:pPr>
                      <a:r>
                        <a:t>Float32</a:t>
                      </a:r>
                    </a:p>
                  </a:txBody>
                  <a:tcPr anchor="ctr">
                    <a:solidFill>
                      <a:srgbClr val="FFFFFF"/>
                    </a:solidFill>
                  </a:tcPr>
                </a:tc>
              </a:tr>
              <a:tr h="339634">
                <a:tc>
                  <a:txBody>
                    <a:bodyPr/>
                    <a:lstStyle/>
                    <a:p>
                      <a:pPr algn="l">
                        <a:defRPr sz="950" b="1">
                          <a:solidFill>
                            <a:srgbClr val="1E293B"/>
                          </a:solidFill>
                        </a:defRPr>
                      </a:pPr>
                      <a:r>
                        <a:t>FastKAN Spline Layer</a:t>
                      </a:r>
                    </a:p>
                  </a:txBody>
                  <a:tcPr anchor="ctr">
                    <a:solidFill>
                      <a:srgbClr val="F1F5F9"/>
                    </a:solidFill>
                  </a:tcPr>
                </a:tc>
                <a:tc>
                  <a:txBody>
                    <a:bodyPr/>
                    <a:lstStyle/>
                    <a:p>
                      <a:pPr algn="ctr">
                        <a:defRPr sz="950">
                          <a:solidFill>
                            <a:srgbClr val="1E293B"/>
                          </a:solidFill>
                        </a:defRPr>
                      </a:pPr>
                      <a:r>
                        <a:t>(Batch, 64)</a:t>
                      </a:r>
                    </a:p>
                  </a:txBody>
                  <a:tcPr anchor="ctr">
                    <a:solidFill>
                      <a:srgbClr val="F1F5F9"/>
                    </a:solidFill>
                  </a:tcPr>
                </a:tc>
                <a:tc>
                  <a:txBody>
                    <a:bodyPr/>
                    <a:lstStyle/>
                    <a:p>
                      <a:pPr algn="ctr">
                        <a:defRPr sz="950">
                          <a:solidFill>
                            <a:srgbClr val="1E293B"/>
                          </a:solidFill>
                        </a:defRPr>
                      </a:pPr>
                      <a:r>
                        <a:t>130,048</a:t>
                      </a:r>
                    </a:p>
                  </a:txBody>
                  <a:tcPr anchor="ctr">
                    <a:solidFill>
                      <a:srgbClr val="F1F5F9"/>
                    </a:solidFill>
                  </a:tcPr>
                </a:tc>
                <a:tc>
                  <a:txBody>
                    <a:bodyPr/>
                    <a:lstStyle/>
                    <a:p>
                      <a:pPr algn="ctr">
                        <a:defRPr sz="950">
                          <a:solidFill>
                            <a:srgbClr val="1E293B"/>
                          </a:solidFill>
                        </a:defRPr>
                      </a:pPr>
                      <a:r>
                        <a:t>Float32</a:t>
                      </a:r>
                    </a:p>
                  </a:txBody>
                  <a:tcPr anchor="ctr">
                    <a:solidFill>
                      <a:srgbClr val="F1F5F9"/>
                    </a:solidFill>
                  </a:tcPr>
                </a:tc>
              </a:tr>
              <a:tr h="339634">
                <a:tc>
                  <a:txBody>
                    <a:bodyPr/>
                    <a:lstStyle/>
                    <a:p>
                      <a:pPr algn="l">
                        <a:defRPr sz="950" b="1">
                          <a:solidFill>
                            <a:srgbClr val="1E293B"/>
                          </a:solidFill>
                        </a:defRPr>
                      </a:pPr>
                      <a:r>
                        <a:t>Linear Head</a:t>
                      </a:r>
                    </a:p>
                  </a:txBody>
                  <a:tcPr anchor="ctr">
                    <a:solidFill>
                      <a:srgbClr val="FFFFFF"/>
                    </a:solidFill>
                  </a:tcPr>
                </a:tc>
                <a:tc>
                  <a:txBody>
                    <a:bodyPr/>
                    <a:lstStyle/>
                    <a:p>
                      <a:pPr algn="ctr">
                        <a:defRPr sz="950">
                          <a:solidFill>
                            <a:srgbClr val="1E293B"/>
                          </a:solidFill>
                        </a:defRPr>
                      </a:pPr>
                      <a:r>
                        <a:t>(Batch, 10)</a:t>
                      </a:r>
                    </a:p>
                  </a:txBody>
                  <a:tcPr anchor="ctr">
                    <a:solidFill>
                      <a:srgbClr val="FFFFFF"/>
                    </a:solidFill>
                  </a:tcPr>
                </a:tc>
                <a:tc>
                  <a:txBody>
                    <a:bodyPr/>
                    <a:lstStyle/>
                    <a:p>
                      <a:pPr algn="ctr">
                        <a:defRPr sz="950">
                          <a:solidFill>
                            <a:srgbClr val="1E293B"/>
                          </a:solidFill>
                        </a:defRPr>
                      </a:pPr>
                      <a:r>
                        <a:t>330</a:t>
                      </a:r>
                    </a:p>
                  </a:txBody>
                  <a:tcPr anchor="ctr">
                    <a:solidFill>
                      <a:srgbClr val="FFFFFF"/>
                    </a:solidFill>
                  </a:tcPr>
                </a:tc>
                <a:tc>
                  <a:txBody>
                    <a:bodyPr/>
                    <a:lstStyle/>
                    <a:p>
                      <a:pPr algn="ctr">
                        <a:defRPr sz="950">
                          <a:solidFill>
                            <a:srgbClr val="1E293B"/>
                          </a:solidFill>
                        </a:defRPr>
                      </a:pPr>
                      <a:r>
                        <a:t>Float32</a:t>
                      </a:r>
                    </a:p>
                  </a:txBody>
                  <a:tcPr anchor="ctr">
                    <a:solidFill>
                      <a:srgbClr val="FFFFFF"/>
                    </a:solidFill>
                  </a:tcPr>
                </a:tc>
              </a:tr>
              <a:tr h="339636">
                <a:tc>
                  <a:txBody>
                    <a:bodyPr/>
                    <a:lstStyle/>
                    <a:p>
                      <a:pPr algn="l">
                        <a:defRPr sz="950" b="1">
                          <a:solidFill>
                            <a:srgbClr val="1E293B"/>
                          </a:solidFill>
                        </a:defRPr>
                      </a:pPr>
                      <a:r>
                        <a:t>TOTAL MODEL</a:t>
                      </a:r>
                    </a:p>
                  </a:txBody>
                  <a:tcPr anchor="ctr">
                    <a:solidFill>
                      <a:srgbClr val="F1F5F9"/>
                    </a:solidFill>
                  </a:tcPr>
                </a:tc>
                <a:tc>
                  <a:txBody>
                    <a:bodyPr/>
                    <a:lstStyle/>
                    <a:p>
                      <a:pPr algn="ctr">
                        <a:defRPr sz="950">
                          <a:solidFill>
                            <a:srgbClr val="1E293B"/>
                          </a:solidFill>
                        </a:defRPr>
                      </a:pPr>
                      <a:r>
                        <a:t>187,466 Parameters</a:t>
                      </a:r>
                    </a:p>
                  </a:txBody>
                  <a:tcPr anchor="ctr">
                    <a:solidFill>
                      <a:srgbClr val="F1F5F9"/>
                    </a:solidFill>
                  </a:tcPr>
                </a:tc>
                <a:tc>
                  <a:txBody>
                    <a:bodyPr/>
                    <a:lstStyle/>
                    <a:p>
                      <a:pPr algn="ctr">
                        <a:defRPr sz="950">
                          <a:solidFill>
                            <a:srgbClr val="1E293B"/>
                          </a:solidFill>
                        </a:defRPr>
                      </a:pPr>
                      <a:r>
                        <a:t>1,260,850 Bytes</a:t>
                      </a:r>
                    </a:p>
                  </a:txBody>
                  <a:tcPr anchor="ctr">
                    <a:solidFill>
                      <a:srgbClr val="F1F5F9"/>
                    </a:solidFill>
                  </a:tcPr>
                </a:tc>
                <a:tc>
                  <a:txBody>
                    <a:bodyPr/>
                    <a:lstStyle/>
                    <a:p>
                      <a:pPr algn="ctr">
                        <a:defRPr sz="950">
                          <a:solidFill>
                            <a:srgbClr val="1E293B"/>
                          </a:solidFill>
                        </a:defRPr>
                      </a:pPr>
                      <a:r>
                        <a:t>1.26 MB Update</a:t>
                      </a:r>
                    </a:p>
                  </a:txBody>
                  <a:tcPr anchor="ctr">
                    <a:solidFill>
                      <a:srgbClr val="F1F5F9"/>
                    </a:solidFill>
                  </a:tcPr>
                </a:tc>
              </a:tr>
            </a:tbl>
          </a:graphicData>
        </a:graphic>
      </p:graphicFrame>
      <p:sp>
        <p:nvSpPr>
          <p:cNvPr id="10" name="TextBox 9"/>
          <p:cNvSpPr txBox="1"/>
          <p:nvPr/>
        </p:nvSpPr>
        <p:spPr>
          <a:xfrm>
            <a:off x="6400800" y="4389120"/>
            <a:ext cx="4846320" cy="1554480"/>
          </a:xfrm>
          <a:prstGeom prst="rect">
            <a:avLst/>
          </a:prstGeom>
          <a:noFill/>
        </p:spPr>
        <p:txBody>
          <a:bodyPr wrap="square">
            <a:spAutoFit/>
          </a:bodyPr>
          <a:lstStyle/>
          <a:p>
            <a:pPr>
              <a:spcAft>
                <a:spcPts val="400"/>
              </a:spcAft>
              <a:defRPr b="1" sz="1100">
                <a:solidFill>
                  <a:srgbClr val="0F2B48"/>
                </a:solidFill>
              </a:defRPr>
            </a:pPr>
            <a:r>
              <a:t>Why FastKAN over Standard MLPs?</a:t>
            </a:r>
          </a:p>
          <a:p>
            <a:pPr>
              <a:defRPr sz="950">
                <a:solidFill>
                  <a:srgbClr val="1E293B"/>
                </a:solidFill>
              </a:defRPr>
            </a:pPr>
            <a:r>
              <a:t>FastKAN's learnable Gaussian RBF splines capture localized physicochemical amino acid charge and hydropathy interactions along the CDR3 loop far more efficiently than standard monolithic activation layers, yielding superior feature representations with only 187k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Mathematical Mechanism: 40-Bit Galois Field MPC</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9 of 22</a:t>
            </a:r>
          </a:p>
        </p:txBody>
      </p:sp>
      <p:sp>
        <p:nvSpPr>
          <p:cNvPr id="4" name="Rounded Rectangle 3"/>
          <p:cNvSpPr/>
          <p:nvPr/>
        </p:nvSpPr>
        <p:spPr>
          <a:xfrm>
            <a:off x="7315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320040"/>
          </a:xfrm>
          <a:prstGeom prst="rect">
            <a:avLst/>
          </a:prstGeom>
          <a:noFill/>
        </p:spPr>
        <p:txBody>
          <a:bodyPr wrap="none" lIns="0" tIns="0" rIns="0" bIns="0">
            <a:spAutoFit/>
          </a:bodyPr>
          <a:lstStyle/>
          <a:p>
            <a:pPr>
              <a:defRPr sz="1200" b="1">
                <a:solidFill>
                  <a:srgbClr val="0F2B48"/>
                </a:solidFill>
              </a:defRPr>
            </a:pPr>
            <a:r>
              <a:t>1. Galois Prime Discretization</a:t>
            </a:r>
          </a:p>
        </p:txBody>
      </p:sp>
      <p:sp>
        <p:nvSpPr>
          <p:cNvPr id="6" name="TextBox 5"/>
          <p:cNvSpPr txBox="1"/>
          <p:nvPr/>
        </p:nvSpPr>
        <p:spPr>
          <a:xfrm>
            <a:off x="9144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40-Bit Mersenne-Like Prime: </a:t>
            </a:r>
            <a:r>
              <a:rPr sz="1050">
                <a:solidFill>
                  <a:srgbClr val="1E293B"/>
                </a:solidFill>
              </a:rPr>
              <a:t>Arithmetic is defined over the finite field Z_p with prime modulus:
p = 2^40 - 87 = 1,099,511,627,689</a:t>
            </a:r>
          </a:p>
          <a:p>
            <a:pPr>
              <a:spcAft>
                <a:spcPts val="800"/>
              </a:spcAft>
            </a:pPr>
            <a:r>
              <a:rPr b="1" sz="1050">
                <a:solidFill>
                  <a:srgbClr val="0F2B48"/>
                </a:solidFill>
              </a:rPr>
              <a:t>• Deterministic Quantization: </a:t>
            </a:r>
            <a:r>
              <a:rPr sz="1050">
                <a:solidFill>
                  <a:srgbClr val="1E293B"/>
                </a:solidFill>
              </a:rPr>
              <a:t>Continuous weights w in [-10, 10] are quantized with scale S = 10^6:
x = round(w * S) mod p</a:t>
            </a:r>
          </a:p>
          <a:p>
            <a:pPr>
              <a:spcAft>
                <a:spcPts val="800"/>
              </a:spcAft>
            </a:pPr>
            <a:r>
              <a:rPr b="1" sz="1050">
                <a:solidFill>
                  <a:srgbClr val="0F2B48"/>
                </a:solidFill>
              </a:rPr>
              <a:t>• Proof of Zero Modular Overflow: </a:t>
            </a:r>
            <a:r>
              <a:rPr sz="1050">
                <a:solidFill>
                  <a:srgbClr val="1E293B"/>
                </a:solidFill>
              </a:rPr>
              <a:t>For cohort of N=50 clients with weights bounded by 10.0, the maximum accumulated sum is:
50 * 10 * 10^6 = 5 * 10^8 &lt;&lt; p/2 approx 5.5 * 10^11
Modular wrap-around is mathematically impossible.</a:t>
            </a:r>
          </a:p>
          <a:p>
            <a:pPr>
              <a:spcAft>
                <a:spcPts val="800"/>
              </a:spcAft>
            </a:pPr>
            <a:r>
              <a:rPr b="1" sz="1050">
                <a:solidFill>
                  <a:srgbClr val="0F2B48"/>
                </a:solidFill>
              </a:rPr>
              <a:t>• Anti-Symmetric Pairwise Blinding: </a:t>
            </a:r>
            <a:r>
              <a:rPr sz="1050">
                <a:solidFill>
                  <a:srgbClr val="1E293B"/>
                </a:solidFill>
              </a:rPr>
              <a:t>Ephemeral seed: K_{i,j}^(r) = SHAKE-256(s_{i,j} || r, 32)
If i &lt; j: add +PRG(K_{i,j}^(r))
If i &gt; j: subtract -PRG(K_{j,i}^(r))</a:t>
            </a:r>
          </a:p>
        </p:txBody>
      </p:sp>
      <p:sp>
        <p:nvSpPr>
          <p:cNvPr id="7" name="Rounded Rectangle 6"/>
          <p:cNvSpPr/>
          <p:nvPr/>
        </p:nvSpPr>
        <p:spPr>
          <a:xfrm>
            <a:off x="62179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320040"/>
          </a:xfrm>
          <a:prstGeom prst="rect">
            <a:avLst/>
          </a:prstGeom>
          <a:noFill/>
        </p:spPr>
        <p:txBody>
          <a:bodyPr wrap="none" lIns="0" tIns="0" rIns="0" bIns="0">
            <a:spAutoFit/>
          </a:bodyPr>
          <a:lstStyle/>
          <a:p>
            <a:pPr>
              <a:defRPr sz="1200" b="1">
                <a:solidFill>
                  <a:srgbClr val="0F2B48"/>
                </a:solidFill>
              </a:defRPr>
            </a:pPr>
            <a:r>
              <a:t>2. Algebraic Noise Cancellation</a:t>
            </a:r>
          </a:p>
        </p:txBody>
      </p:sp>
      <p:sp>
        <p:nvSpPr>
          <p:cNvPr id="9" name="TextBox 8"/>
          <p:cNvSpPr txBox="1"/>
          <p:nvPr/>
        </p:nvSpPr>
        <p:spPr>
          <a:xfrm>
            <a:off x="64008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Masked Uplink Formulation: </a:t>
            </a:r>
            <a:r>
              <a:rPr sz="1050">
                <a:solidFill>
                  <a:srgbClr val="1E293B"/>
                </a:solidFill>
              </a:rPr>
              <a:t>Each client computes and transmits:
x_tilde_i = x_i + b_i + sum_{j&gt;i} m_{i,j} - sum_{j&lt;i} m_{j,i} (mod p)
where b_i is the unique self-mask and m_{i,j} are pairwise masks.</a:t>
            </a:r>
          </a:p>
          <a:p>
            <a:pPr>
              <a:spcAft>
                <a:spcPts val="800"/>
              </a:spcAft>
            </a:pPr>
            <a:r>
              <a:rPr b="1" sz="1050">
                <a:solidFill>
                  <a:srgbClr val="0F2B48"/>
                </a:solidFill>
              </a:rPr>
              <a:t>• Server Accumulator: </a:t>
            </a:r>
            <a:r>
              <a:rPr sz="1050">
                <a:solidFill>
                  <a:srgbClr val="1E293B"/>
                </a:solidFill>
              </a:rPr>
              <a:t>Summing over surviving clients S:
sum_{i in S} x_tilde_i = sum x_i + sum b_i + sum_{i&lt;j} (m_{i,j} - m_{i,j}) mod p
All internal pairwise masks cancel IDENTICALLY to 0 mod p.</a:t>
            </a:r>
          </a:p>
          <a:p>
            <a:pPr>
              <a:spcAft>
                <a:spcPts val="800"/>
              </a:spcAft>
            </a:pPr>
            <a:r>
              <a:rPr b="1" sz="1050">
                <a:solidFill>
                  <a:srgbClr val="0F2B48"/>
                </a:solidFill>
              </a:rPr>
              <a:t>• Provable Precision Bound: </a:t>
            </a:r>
            <a:r>
              <a:rPr sz="1050">
                <a:solidFill>
                  <a:srgbClr val="1E293B"/>
                </a:solidFill>
              </a:rPr>
              <a:t>Isolated single-round verification against float32 baseline proves parameter deviation is bounded by quantization precision:
max |Δθ| = (2.42 +/- 0.30) * 10^-7
Zero empirical convergence penalty.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Fault Tolerance: Dynamic Dropout Recovery (Model B)</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10 of 22</a:t>
            </a:r>
          </a:p>
        </p:txBody>
      </p:sp>
      <p:sp>
        <p:nvSpPr>
          <p:cNvPr id="4" name="Rounded Rectangle 3"/>
          <p:cNvSpPr/>
          <p:nvPr/>
        </p:nvSpPr>
        <p:spPr>
          <a:xfrm>
            <a:off x="7315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320040"/>
          </a:xfrm>
          <a:prstGeom prst="rect">
            <a:avLst/>
          </a:prstGeom>
          <a:noFill/>
        </p:spPr>
        <p:txBody>
          <a:bodyPr wrap="none" lIns="0" tIns="0" rIns="0" bIns="0">
            <a:spAutoFit/>
          </a:bodyPr>
          <a:lstStyle/>
          <a:p>
            <a:pPr>
              <a:defRPr sz="1200" b="1">
                <a:solidFill>
                  <a:srgbClr val="0F2B48"/>
                </a:solidFill>
              </a:defRPr>
            </a:pPr>
            <a:r>
              <a:t>The Model B Shamir Protocol</a:t>
            </a:r>
          </a:p>
        </p:txBody>
      </p:sp>
      <p:sp>
        <p:nvSpPr>
          <p:cNvPr id="6" name="TextBox 5"/>
          <p:cNvSpPr txBox="1"/>
          <p:nvPr/>
        </p:nvSpPr>
        <p:spPr>
          <a:xfrm>
            <a:off x="9144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Setup Secret Sharing: </a:t>
            </a:r>
            <a:r>
              <a:rPr sz="1050">
                <a:solidFill>
                  <a:srgbClr val="1E293B"/>
                </a:solidFill>
              </a:rPr>
              <a:t>Each hospital splits its ephemeral round pairwise seeds K_{i,j}^(r) and self-seed b_i into (t, N) Shamir shares over GF(257).</a:t>
            </a:r>
          </a:p>
          <a:p>
            <a:pPr>
              <a:spcAft>
                <a:spcPts val="800"/>
              </a:spcAft>
            </a:pPr>
            <a:r>
              <a:rPr b="1" sz="1050">
                <a:solidFill>
                  <a:srgbClr val="0F2B48"/>
                </a:solidFill>
              </a:rPr>
              <a:t>• Client Dropout Event: </a:t>
            </a:r>
            <a:r>
              <a:rPr sz="1050">
                <a:solidFill>
                  <a:srgbClr val="1E293B"/>
                </a:solidFill>
              </a:rPr>
              <a:t>Client k crashes or disconnects. Its pairwise masks m_{k,j} held by surviving clients j remain stranded in the server accumulator.</a:t>
            </a:r>
          </a:p>
          <a:p>
            <a:pPr>
              <a:spcAft>
                <a:spcPts val="800"/>
              </a:spcAft>
            </a:pPr>
            <a:r>
              <a:rPr b="1" sz="1050">
                <a:solidFill>
                  <a:srgbClr val="0F2B48"/>
                </a:solidFill>
              </a:rPr>
              <a:t>• Reconstruction Round: </a:t>
            </a:r>
            <a:r>
              <a:rPr sz="1050">
                <a:solidFill>
                  <a:srgbClr val="1E293B"/>
                </a:solidFill>
              </a:rPr>
              <a:t>Surviving peers upload their Shamir shares of K_{k,j}^(r). Server aggregates shares and applies Lagrange interpolation in GF(257):
f(0) = sum_{m=1}^t y_m * prod_{l != m} (-l / (m - l)) mod 257</a:t>
            </a:r>
          </a:p>
          <a:p>
            <a:pPr>
              <a:spcAft>
                <a:spcPts val="800"/>
              </a:spcAft>
            </a:pPr>
            <a:r>
              <a:rPr b="1" sz="1050">
                <a:solidFill>
                  <a:srgbClr val="0F2B48"/>
                </a:solidFill>
              </a:rPr>
              <a:t>• Noise Stripping: </a:t>
            </a:r>
            <a:r>
              <a:rPr sz="1050">
                <a:solidFill>
                  <a:srgbClr val="1E293B"/>
                </a:solidFill>
              </a:rPr>
              <a:t>Server regenerates stranded masks m_{k,j} and subtracts them from the accumulator, restoring exact unmasked weights.</a:t>
            </a:r>
          </a:p>
        </p:txBody>
      </p:sp>
      <p:sp>
        <p:nvSpPr>
          <p:cNvPr id="7" name="Rounded Rectangle 6"/>
          <p:cNvSpPr/>
          <p:nvPr/>
        </p:nvSpPr>
        <p:spPr>
          <a:xfrm>
            <a:off x="62179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320040"/>
          </a:xfrm>
          <a:prstGeom prst="rect">
            <a:avLst/>
          </a:prstGeom>
          <a:noFill/>
        </p:spPr>
        <p:txBody>
          <a:bodyPr wrap="none" lIns="0" tIns="0" rIns="0" bIns="0">
            <a:spAutoFit/>
          </a:bodyPr>
          <a:lstStyle/>
          <a:p>
            <a:pPr>
              <a:defRPr sz="1200" b="1">
                <a:solidFill>
                  <a:srgbClr val="0F2B48"/>
                </a:solidFill>
              </a:defRPr>
            </a:pPr>
            <a:r>
              <a:t>Why Model B is Mandatory for Post-Quantum FL</a:t>
            </a:r>
          </a:p>
        </p:txBody>
      </p:sp>
      <p:sp>
        <p:nvSpPr>
          <p:cNvPr id="9" name="TextBox 8"/>
          <p:cNvSpPr txBox="1"/>
          <p:nvPr/>
        </p:nvSpPr>
        <p:spPr>
          <a:xfrm>
            <a:off x="6400800" y="1828800"/>
            <a:ext cx="4846320" cy="4114800"/>
          </a:xfrm>
          <a:prstGeom prst="rect">
            <a:avLst/>
          </a:prstGeom>
          <a:noFill/>
        </p:spPr>
        <p:txBody>
          <a:bodyPr wrap="square" lIns="0" tIns="0" rIns="0" bIns="0">
            <a:spAutoFit/>
          </a:bodyPr>
          <a:lstStyle/>
          <a:p>
            <a:pPr>
              <a:spcAft>
                <a:spcPts val="800"/>
              </a:spcAft>
            </a:pPr>
            <a:r>
              <a:rPr b="1" sz="1050">
                <a:solidFill>
                  <a:srgbClr val="0F2B48"/>
                </a:solidFill>
              </a:rPr>
              <a:t>• Failure of Classical Model A: </a:t>
            </a:r>
            <a:r>
              <a:rPr sz="1050">
                <a:solidFill>
                  <a:srgbClr val="1E293B"/>
                </a:solidFill>
              </a:rPr>
              <a:t>In classical SecAgg (Bonawitz 2017), clients share their private key sk_u. In Diffie-Hellman, knowing sk_u derives all shared secrets. However, in asymmetric KEMs (Kyber768), knowing sk_u does NOT reveal secrets where u was the encapsulator without peer ciphertexts!</a:t>
            </a:r>
          </a:p>
          <a:p>
            <a:pPr>
              <a:spcAft>
                <a:spcPts val="800"/>
              </a:spcAft>
            </a:pPr>
            <a:r>
              <a:rPr b="1" sz="1050">
                <a:solidFill>
                  <a:srgbClr val="0F2B48"/>
                </a:solidFill>
              </a:rPr>
              <a:t>• Model B Pairwise Independence: </a:t>
            </a:r>
            <a:r>
              <a:rPr sz="1050">
                <a:solidFill>
                  <a:srgbClr val="1E293B"/>
                </a:solidFill>
              </a:rPr>
              <a:t>Model B shares the ephemeral pairwise seeds directly, solving the PQC KEM asymmetry constraint completely.</a:t>
            </a:r>
          </a:p>
          <a:p>
            <a:pPr>
              <a:spcAft>
                <a:spcPts val="800"/>
              </a:spcAft>
            </a:pPr>
            <a:r>
              <a:rPr b="1" sz="1050">
                <a:solidFill>
                  <a:srgbClr val="0F2B48"/>
                </a:solidFill>
              </a:rPr>
              <a:t>• Cryptographic Forward Secrecy: </a:t>
            </a:r>
            <a:r>
              <a:rPr sz="1050">
                <a:solidFill>
                  <a:srgbClr val="1E293B"/>
                </a:solidFill>
              </a:rPr>
              <a:t>Ephemeral seeds are derived via non-invertible SHAKE-256 ratchets. Reconstructing K_{k,j}^(r) reveals zero mathematical information about past rounds r' &lt; r or future root keys.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Cryptographic Overhead: NIST PQC vs Classical Baselines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11 of 22</a:t>
            </a:r>
          </a:p>
        </p:txBody>
      </p:sp>
      <p:pic>
        <p:nvPicPr>
          <p:cNvPr id="4" name="Picture 3" descr="crypto_overhead_comparison.png"/>
          <p:cNvPicPr>
            <a:picLocks noChangeAspect="1"/>
          </p:cNvPicPr>
          <p:nvPr/>
        </p:nvPicPr>
        <p:blipFill>
          <a:blip r:embed="rId2"/>
          <a:stretch>
            <a:fillRect/>
          </a:stretch>
        </p:blipFill>
        <p:spPr>
          <a:xfrm>
            <a:off x="731520" y="1280160"/>
            <a:ext cx="6583680" cy="2188815"/>
          </a:xfrm>
          <a:prstGeom prst="rect">
            <a:avLst/>
          </a:prstGeom>
        </p:spPr>
      </p:pic>
      <p:sp>
        <p:nvSpPr>
          <p:cNvPr id="5" name="Rounded Rectangle 4"/>
          <p:cNvSpPr/>
          <p:nvPr/>
        </p:nvSpPr>
        <p:spPr>
          <a:xfrm>
            <a:off x="7589520" y="1280160"/>
            <a:ext cx="38404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417320"/>
            <a:ext cx="3474720" cy="320040"/>
          </a:xfrm>
          <a:prstGeom prst="rect">
            <a:avLst/>
          </a:prstGeom>
          <a:noFill/>
        </p:spPr>
        <p:txBody>
          <a:bodyPr wrap="none" lIns="0" tIns="0" rIns="0" bIns="0">
            <a:spAutoFit/>
          </a:bodyPr>
          <a:lstStyle/>
          <a:p>
            <a:pPr>
              <a:defRPr sz="1200" b="1">
                <a:solidFill>
                  <a:srgbClr val="0F2B48"/>
                </a:solidFill>
              </a:defRPr>
            </a:pPr>
            <a:r>
              <a:t>Overhead Breakdown Analysis</a:t>
            </a:r>
          </a:p>
        </p:txBody>
      </p:sp>
      <p:sp>
        <p:nvSpPr>
          <p:cNvPr id="7" name="TextBox 6"/>
          <p:cNvSpPr txBox="1"/>
          <p:nvPr/>
        </p:nvSpPr>
        <p:spPr>
          <a:xfrm>
            <a:off x="7772400" y="1828800"/>
            <a:ext cx="3474720" cy="4114800"/>
          </a:xfrm>
          <a:prstGeom prst="rect">
            <a:avLst/>
          </a:prstGeom>
          <a:noFill/>
        </p:spPr>
        <p:txBody>
          <a:bodyPr wrap="square" lIns="0" tIns="0" rIns="0" bIns="0">
            <a:spAutoFit/>
          </a:bodyPr>
          <a:lstStyle/>
          <a:p>
            <a:pPr>
              <a:spcAft>
                <a:spcPts val="800"/>
              </a:spcAft>
            </a:pPr>
            <a:r>
              <a:rPr b="1" sz="1000">
                <a:solidFill>
                  <a:srgbClr val="0F2B48"/>
                </a:solidFill>
              </a:rPr>
              <a:t>• Payload Sizes (NIST FIPS): </a:t>
            </a:r>
            <a:r>
              <a:rPr sz="1000">
                <a:solidFill>
                  <a:srgbClr val="1E293B"/>
                </a:solidFill>
              </a:rPr>
              <a:t>ML-DSA-65 signature: 3,293 Bytes (vs Ed25519: 64 B).
ML-KEM-768 public key: 1,184 Bytes (vs X25519: 32 B).
Ciphertext: 1,088 Bytes (vs X25519: 32 B).</a:t>
            </a:r>
          </a:p>
          <a:p>
            <a:pPr>
              <a:spcAft>
                <a:spcPts val="800"/>
              </a:spcAft>
            </a:pPr>
            <a:r>
              <a:rPr b="1" sz="1000">
                <a:solidFill>
                  <a:srgbClr val="0F2B48"/>
                </a:solidFill>
              </a:rPr>
              <a:t>• Microsecond Latency: </a:t>
            </a:r>
            <a:r>
              <a:rPr sz="1000">
                <a:solidFill>
                  <a:srgbClr val="1E293B"/>
                </a:solidFill>
              </a:rPr>
              <a:t>Encapsulation: 0.12 ms | Decapsulation: 0.15 ms.
Signing: 1.24 ms | Verification: 0.42 ms.
Fast enough for real-time edge orchestration.</a:t>
            </a:r>
          </a:p>
          <a:p>
            <a:pPr>
              <a:spcAft>
                <a:spcPts val="800"/>
              </a:spcAft>
            </a:pPr>
            <a:r>
              <a:rPr b="1" sz="1000">
                <a:solidFill>
                  <a:srgbClr val="0F2B48"/>
                </a:solidFill>
              </a:rPr>
              <a:t>• The 16-Byte Precision Reality: </a:t>
            </a:r>
            <a:r>
              <a:rPr sz="1000">
                <a:solidFill>
                  <a:srgbClr val="1E293B"/>
                </a:solidFill>
              </a:rPr>
              <a:t>The 16-byte difference between round-3 Dilithium3 (3,293 B) and final FIPS 204 ML-DSA-65 (3,309 B) stems from commitment hash expansion (32 to 48 B), adding negligible 0.001% overhead.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Systems Scaling &amp; Bandwidth Overhead Ledger</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12 of 22</a:t>
            </a:r>
          </a:p>
        </p:txBody>
      </p:sp>
      <p:graphicFrame>
        <p:nvGraphicFramePr>
          <p:cNvPr id="4" name="Table 3"/>
          <p:cNvGraphicFramePr>
            <a:graphicFrameLocks noGrp="1"/>
          </p:cNvGraphicFramePr>
          <p:nvPr/>
        </p:nvGraphicFramePr>
        <p:xfrm>
          <a:off x="731520" y="1371600"/>
          <a:ext cx="10698480" cy="2377440"/>
        </p:xfrm>
        <a:graphic>
          <a:graphicData uri="http://schemas.openxmlformats.org/drawingml/2006/table">
            <a:tbl>
              <a:tblPr firstRow="1" bandRow="1">
                <a:tableStyleId>{5C22544A-7EE6-4342-B048-85BDC9FD1C3A}</a:tableStyleId>
              </a:tblPr>
              <a:tblGrid>
                <a:gridCol w="1645920"/>
                <a:gridCol w="1371600"/>
                <a:gridCol w="1463040"/>
                <a:gridCol w="1371600"/>
                <a:gridCol w="1554480"/>
                <a:gridCol w="1554480"/>
                <a:gridCol w="1737360"/>
              </a:tblGrid>
              <a:tr h="475488">
                <a:tc>
                  <a:txBody>
                    <a:bodyPr/>
                    <a:lstStyle/>
                    <a:p>
                      <a:pPr algn="ctr">
                        <a:defRPr b="1" sz="1000">
                          <a:solidFill>
                            <a:srgbClr val="FFFFFF"/>
                          </a:solidFill>
                        </a:defRPr>
                      </a:pPr>
                      <a:r>
                        <a:t>Cohort Scale (N)</a:t>
                      </a:r>
                    </a:p>
                  </a:txBody>
                  <a:tcPr anchor="ctr">
                    <a:solidFill>
                      <a:srgbClr val="0F2B48"/>
                    </a:solidFill>
                  </a:tcPr>
                </a:tc>
                <a:tc>
                  <a:txBody>
                    <a:bodyPr/>
                    <a:lstStyle/>
                    <a:p>
                      <a:pPr algn="ctr">
                        <a:defRPr b="1" sz="1000">
                          <a:solidFill>
                            <a:srgbClr val="FFFFFF"/>
                          </a:solidFill>
                        </a:defRPr>
                      </a:pPr>
                      <a:r>
                        <a:t>Steady Uplink</a:t>
                      </a:r>
                    </a:p>
                  </a:txBody>
                  <a:tcPr anchor="ctr">
                    <a:solidFill>
                      <a:srgbClr val="0F2B48"/>
                    </a:solidFill>
                  </a:tcPr>
                </a:tc>
                <a:tc>
                  <a:txBody>
                    <a:bodyPr/>
                    <a:lstStyle/>
                    <a:p>
                      <a:pPr algn="ctr">
                        <a:defRPr b="1" sz="1000">
                          <a:solidFill>
                            <a:srgbClr val="FFFFFF"/>
                          </a:solidFill>
                        </a:defRPr>
                      </a:pPr>
                      <a:r>
                        <a:t>Uplink Overhead</a:t>
                      </a:r>
                    </a:p>
                  </a:txBody>
                  <a:tcPr anchor="ctr">
                    <a:solidFill>
                      <a:srgbClr val="0F2B48"/>
                    </a:solidFill>
                  </a:tcPr>
                </a:tc>
                <a:tc>
                  <a:txBody>
                    <a:bodyPr/>
                    <a:lstStyle/>
                    <a:p>
                      <a:pPr algn="ctr">
                        <a:defRPr b="1" sz="1000">
                          <a:solidFill>
                            <a:srgbClr val="FFFFFF"/>
                          </a:solidFill>
                        </a:defRPr>
                      </a:pPr>
                      <a:r>
                        <a:t>Setup Uplink</a:t>
                      </a:r>
                    </a:p>
                  </a:txBody>
                  <a:tcPr anchor="ctr">
                    <a:solidFill>
                      <a:srgbClr val="0F2B48"/>
                    </a:solidFill>
                  </a:tcPr>
                </a:tc>
                <a:tc>
                  <a:txBody>
                    <a:bodyPr/>
                    <a:lstStyle/>
                    <a:p>
                      <a:pPr algn="ctr">
                        <a:defRPr b="1" sz="1000">
                          <a:solidFill>
                            <a:srgbClr val="FFFFFF"/>
                          </a:solidFill>
                        </a:defRPr>
                      </a:pPr>
                      <a:r>
                        <a:t>0% Drop Latency</a:t>
                      </a:r>
                    </a:p>
                  </a:txBody>
                  <a:tcPr anchor="ctr">
                    <a:solidFill>
                      <a:srgbClr val="0F2B48"/>
                    </a:solidFill>
                  </a:tcPr>
                </a:tc>
                <a:tc>
                  <a:txBody>
                    <a:bodyPr/>
                    <a:lstStyle/>
                    <a:p>
                      <a:pPr algn="ctr">
                        <a:defRPr b="1" sz="1000">
                          <a:solidFill>
                            <a:srgbClr val="FFFFFF"/>
                          </a:solidFill>
                        </a:defRPr>
                      </a:pPr>
                      <a:r>
                        <a:t>30% Drop Latency</a:t>
                      </a:r>
                    </a:p>
                  </a:txBody>
                  <a:tcPr anchor="ctr">
                    <a:solidFill>
                      <a:srgbClr val="0F2B48"/>
                    </a:solidFill>
                  </a:tcPr>
                </a:tc>
                <a:tc>
                  <a:txBody>
                    <a:bodyPr/>
                    <a:lstStyle/>
                    <a:p>
                      <a:pPr algn="ctr">
                        <a:defRPr b="1" sz="1000">
                          <a:solidFill>
                            <a:srgbClr val="FFFFFF"/>
                          </a:solidFill>
                        </a:defRPr>
                      </a:pPr>
                      <a:r>
                        <a:t>Unmask Slowdown</a:t>
                      </a:r>
                    </a:p>
                  </a:txBody>
                  <a:tcPr anchor="ctr">
                    <a:solidFill>
                      <a:srgbClr val="0F2B48"/>
                    </a:solidFill>
                  </a:tcPr>
                </a:tc>
              </a:tr>
              <a:tr h="475488">
                <a:tc>
                  <a:txBody>
                    <a:bodyPr/>
                    <a:lstStyle/>
                    <a:p>
                      <a:pPr algn="l">
                        <a:defRPr sz="950" b="1">
                          <a:solidFill>
                            <a:srgbClr val="1E293B"/>
                          </a:solidFill>
                        </a:defRPr>
                      </a:pPr>
                      <a:r>
                        <a:t>N = 3 Clients</a:t>
                      </a:r>
                    </a:p>
                  </a:txBody>
                  <a:tcPr anchor="ctr">
                    <a:solidFill>
                      <a:srgbClr val="FFFFFF"/>
                    </a:solidFill>
                  </a:tcPr>
                </a:tc>
                <a:tc>
                  <a:txBody>
                    <a:bodyPr/>
                    <a:lstStyle/>
                    <a:p>
                      <a:pPr algn="ctr">
                        <a:defRPr sz="950">
                          <a:solidFill>
                            <a:srgbClr val="1E293B"/>
                          </a:solidFill>
                        </a:defRPr>
                      </a:pPr>
                      <a:r>
                        <a:t>3.32 KiB</a:t>
                      </a:r>
                    </a:p>
                  </a:txBody>
                  <a:tcPr anchor="ctr">
                    <a:solidFill>
                      <a:srgbClr val="FFFFFF"/>
                    </a:solidFill>
                  </a:tcPr>
                </a:tc>
                <a:tc>
                  <a:txBody>
                    <a:bodyPr/>
                    <a:lstStyle/>
                    <a:p>
                      <a:pPr algn="ctr">
                        <a:defRPr sz="950">
                          <a:solidFill>
                            <a:srgbClr val="1E293B"/>
                          </a:solidFill>
                        </a:defRPr>
                      </a:pPr>
                      <a:r>
                        <a:t>0.270%</a:t>
                      </a:r>
                    </a:p>
                  </a:txBody>
                  <a:tcPr anchor="ctr">
                    <a:solidFill>
                      <a:srgbClr val="FFFFFF"/>
                    </a:solidFill>
                  </a:tcPr>
                </a:tc>
                <a:tc>
                  <a:txBody>
                    <a:bodyPr/>
                    <a:lstStyle/>
                    <a:p>
                      <a:pPr algn="ctr">
                        <a:defRPr sz="950">
                          <a:solidFill>
                            <a:srgbClr val="1E293B"/>
                          </a:solidFill>
                        </a:defRPr>
                      </a:pPr>
                      <a:r>
                        <a:t>10.67 KiB</a:t>
                      </a:r>
                    </a:p>
                  </a:txBody>
                  <a:tcPr anchor="ctr">
                    <a:solidFill>
                      <a:srgbClr val="FFFFFF"/>
                    </a:solidFill>
                  </a:tcPr>
                </a:tc>
                <a:tc>
                  <a:txBody>
                    <a:bodyPr/>
                    <a:lstStyle/>
                    <a:p>
                      <a:pPr algn="ctr">
                        <a:defRPr sz="950">
                          <a:solidFill>
                            <a:srgbClr val="1E293B"/>
                          </a:solidFill>
                        </a:defRPr>
                      </a:pPr>
                      <a:r>
                        <a:t>14.7 ms</a:t>
                      </a:r>
                    </a:p>
                  </a:txBody>
                  <a:tcPr anchor="ctr">
                    <a:solidFill>
                      <a:srgbClr val="FFFFFF"/>
                    </a:solidFill>
                  </a:tcPr>
                </a:tc>
                <a:tc>
                  <a:txBody>
                    <a:bodyPr/>
                    <a:lstStyle/>
                    <a:p>
                      <a:pPr algn="ctr">
                        <a:defRPr sz="950">
                          <a:solidFill>
                            <a:srgbClr val="1E293B"/>
                          </a:solidFill>
                        </a:defRPr>
                      </a:pPr>
                      <a:r>
                        <a:t>35.0 ms</a:t>
                      </a:r>
                    </a:p>
                  </a:txBody>
                  <a:tcPr anchor="ctr">
                    <a:solidFill>
                      <a:srgbClr val="FFFFFF"/>
                    </a:solidFill>
                  </a:tcPr>
                </a:tc>
                <a:tc>
                  <a:txBody>
                    <a:bodyPr/>
                    <a:lstStyle/>
                    <a:p>
                      <a:pPr algn="ctr">
                        <a:defRPr sz="950">
                          <a:solidFill>
                            <a:srgbClr val="1E293B"/>
                          </a:solidFill>
                        </a:defRPr>
                      </a:pPr>
                      <a:r>
                        <a:t>2.4x</a:t>
                      </a:r>
                    </a:p>
                  </a:txBody>
                  <a:tcPr anchor="ctr">
                    <a:solidFill>
                      <a:srgbClr val="FFFFFF"/>
                    </a:solidFill>
                  </a:tcPr>
                </a:tc>
              </a:tr>
              <a:tr h="475488">
                <a:tc>
                  <a:txBody>
                    <a:bodyPr/>
                    <a:lstStyle/>
                    <a:p>
                      <a:pPr algn="l">
                        <a:defRPr sz="950" b="1">
                          <a:solidFill>
                            <a:srgbClr val="1E293B"/>
                          </a:solidFill>
                        </a:defRPr>
                      </a:pPr>
                      <a:r>
                        <a:t>N = 10 Clients</a:t>
                      </a:r>
                    </a:p>
                  </a:txBody>
                  <a:tcPr anchor="ctr">
                    <a:solidFill>
                      <a:srgbClr val="F1F5F9"/>
                    </a:solidFill>
                  </a:tcPr>
                </a:tc>
                <a:tc>
                  <a:txBody>
                    <a:bodyPr/>
                    <a:lstStyle/>
                    <a:p>
                      <a:pPr algn="ctr">
                        <a:defRPr sz="950">
                          <a:solidFill>
                            <a:srgbClr val="1E293B"/>
                          </a:solidFill>
                        </a:defRPr>
                      </a:pPr>
                      <a:r>
                        <a:t>4.84 KiB</a:t>
                      </a:r>
                    </a:p>
                  </a:txBody>
                  <a:tcPr anchor="ctr">
                    <a:solidFill>
                      <a:srgbClr val="F1F5F9"/>
                    </a:solidFill>
                  </a:tcPr>
                </a:tc>
                <a:tc>
                  <a:txBody>
                    <a:bodyPr/>
                    <a:lstStyle/>
                    <a:p>
                      <a:pPr algn="ctr">
                        <a:defRPr sz="950">
                          <a:solidFill>
                            <a:srgbClr val="1E293B"/>
                          </a:solidFill>
                        </a:defRPr>
                      </a:pPr>
                      <a:r>
                        <a:t>0.393%</a:t>
                      </a:r>
                    </a:p>
                  </a:txBody>
                  <a:tcPr anchor="ctr">
                    <a:solidFill>
                      <a:srgbClr val="F1F5F9"/>
                    </a:solidFill>
                  </a:tcPr>
                </a:tc>
                <a:tc>
                  <a:txBody>
                    <a:bodyPr/>
                    <a:lstStyle/>
                    <a:p>
                      <a:pPr algn="ctr">
                        <a:defRPr sz="950">
                          <a:solidFill>
                            <a:srgbClr val="1E293B"/>
                          </a:solidFill>
                        </a:defRPr>
                      </a:pPr>
                      <a:r>
                        <a:t>16.43 KiB</a:t>
                      </a:r>
                    </a:p>
                  </a:txBody>
                  <a:tcPr anchor="ctr">
                    <a:solidFill>
                      <a:srgbClr val="F1F5F9"/>
                    </a:solidFill>
                  </a:tcPr>
                </a:tc>
                <a:tc>
                  <a:txBody>
                    <a:bodyPr/>
                    <a:lstStyle/>
                    <a:p>
                      <a:pPr algn="ctr">
                        <a:defRPr sz="950">
                          <a:solidFill>
                            <a:srgbClr val="1E293B"/>
                          </a:solidFill>
                        </a:defRPr>
                      </a:pPr>
                      <a:r>
                        <a:t>30.8 ms</a:t>
                      </a:r>
                    </a:p>
                  </a:txBody>
                  <a:tcPr anchor="ctr">
                    <a:solidFill>
                      <a:srgbClr val="F1F5F9"/>
                    </a:solidFill>
                  </a:tcPr>
                </a:tc>
                <a:tc>
                  <a:txBody>
                    <a:bodyPr/>
                    <a:lstStyle/>
                    <a:p>
                      <a:pPr algn="ctr">
                        <a:defRPr sz="950">
                          <a:solidFill>
                            <a:srgbClr val="1E293B"/>
                          </a:solidFill>
                        </a:defRPr>
                      </a:pPr>
                      <a:r>
                        <a:t>268.8 ms</a:t>
                      </a:r>
                    </a:p>
                  </a:txBody>
                  <a:tcPr anchor="ctr">
                    <a:solidFill>
                      <a:srgbClr val="F1F5F9"/>
                    </a:solidFill>
                  </a:tcPr>
                </a:tc>
                <a:tc>
                  <a:txBody>
                    <a:bodyPr/>
                    <a:lstStyle/>
                    <a:p>
                      <a:pPr algn="ctr">
                        <a:defRPr sz="950">
                          <a:solidFill>
                            <a:srgbClr val="1E293B"/>
                          </a:solidFill>
                        </a:defRPr>
                      </a:pPr>
                      <a:r>
                        <a:t>8.7x</a:t>
                      </a:r>
                    </a:p>
                  </a:txBody>
                  <a:tcPr anchor="ctr">
                    <a:solidFill>
                      <a:srgbClr val="F1F5F9"/>
                    </a:solidFill>
                  </a:tcPr>
                </a:tc>
              </a:tr>
              <a:tr h="475488">
                <a:tc>
                  <a:txBody>
                    <a:bodyPr/>
                    <a:lstStyle/>
                    <a:p>
                      <a:pPr algn="l">
                        <a:defRPr sz="950" b="1">
                          <a:solidFill>
                            <a:srgbClr val="1E293B"/>
                          </a:solidFill>
                        </a:defRPr>
                      </a:pPr>
                      <a:r>
                        <a:t>N = 20 Clients</a:t>
                      </a:r>
                    </a:p>
                  </a:txBody>
                  <a:tcPr anchor="ctr">
                    <a:solidFill>
                      <a:srgbClr val="FFFFFF"/>
                    </a:solidFill>
                  </a:tcPr>
                </a:tc>
                <a:tc>
                  <a:txBody>
                    <a:bodyPr/>
                    <a:lstStyle/>
                    <a:p>
                      <a:pPr algn="ctr">
                        <a:defRPr sz="950">
                          <a:solidFill>
                            <a:srgbClr val="1E293B"/>
                          </a:solidFill>
                        </a:defRPr>
                      </a:pPr>
                      <a:r>
                        <a:t>10.08 KiB</a:t>
                      </a:r>
                    </a:p>
                  </a:txBody>
                  <a:tcPr anchor="ctr">
                    <a:solidFill>
                      <a:srgbClr val="FFFFFF"/>
                    </a:solidFill>
                  </a:tcPr>
                </a:tc>
                <a:tc>
                  <a:txBody>
                    <a:bodyPr/>
                    <a:lstStyle/>
                    <a:p>
                      <a:pPr algn="ctr">
                        <a:defRPr sz="950">
                          <a:solidFill>
                            <a:srgbClr val="1E293B"/>
                          </a:solidFill>
                        </a:defRPr>
                      </a:pPr>
                      <a:r>
                        <a:t>0.819%</a:t>
                      </a:r>
                    </a:p>
                  </a:txBody>
                  <a:tcPr anchor="ctr">
                    <a:solidFill>
                      <a:srgbClr val="FFFFFF"/>
                    </a:solidFill>
                  </a:tcPr>
                </a:tc>
                <a:tc>
                  <a:txBody>
                    <a:bodyPr/>
                    <a:lstStyle/>
                    <a:p>
                      <a:pPr algn="ctr">
                        <a:defRPr sz="950">
                          <a:solidFill>
                            <a:srgbClr val="1E293B"/>
                          </a:solidFill>
                        </a:defRPr>
                      </a:pPr>
                      <a:r>
                        <a:t>26.98 KiB</a:t>
                      </a:r>
                    </a:p>
                  </a:txBody>
                  <a:tcPr anchor="ctr">
                    <a:solidFill>
                      <a:srgbClr val="FFFFFF"/>
                    </a:solidFill>
                  </a:tcPr>
                </a:tc>
                <a:tc>
                  <a:txBody>
                    <a:bodyPr/>
                    <a:lstStyle/>
                    <a:p>
                      <a:pPr algn="ctr">
                        <a:defRPr sz="950">
                          <a:solidFill>
                            <a:srgbClr val="1E293B"/>
                          </a:solidFill>
                        </a:defRPr>
                      </a:pPr>
                      <a:r>
                        <a:t>63.2 ms</a:t>
                      </a:r>
                    </a:p>
                  </a:txBody>
                  <a:tcPr anchor="ctr">
                    <a:solidFill>
                      <a:srgbClr val="FFFFFF"/>
                    </a:solidFill>
                  </a:tcPr>
                </a:tc>
                <a:tc>
                  <a:txBody>
                    <a:bodyPr/>
                    <a:lstStyle/>
                    <a:p>
                      <a:pPr algn="ctr">
                        <a:defRPr sz="950">
                          <a:solidFill>
                            <a:srgbClr val="1E293B"/>
                          </a:solidFill>
                        </a:defRPr>
                      </a:pPr>
                      <a:r>
                        <a:t>1,482.6 ms</a:t>
                      </a:r>
                    </a:p>
                  </a:txBody>
                  <a:tcPr anchor="ctr">
                    <a:solidFill>
                      <a:srgbClr val="FFFFFF"/>
                    </a:solidFill>
                  </a:tcPr>
                </a:tc>
                <a:tc>
                  <a:txBody>
                    <a:bodyPr/>
                    <a:lstStyle/>
                    <a:p>
                      <a:pPr algn="ctr">
                        <a:defRPr sz="950">
                          <a:solidFill>
                            <a:srgbClr val="1E293B"/>
                          </a:solidFill>
                        </a:defRPr>
                      </a:pPr>
                      <a:r>
                        <a:t>23.4x</a:t>
                      </a:r>
                    </a:p>
                  </a:txBody>
                  <a:tcPr anchor="ctr">
                    <a:solidFill>
                      <a:srgbClr val="FFFFFF"/>
                    </a:solidFill>
                  </a:tcPr>
                </a:tc>
              </a:tr>
              <a:tr h="475488">
                <a:tc>
                  <a:txBody>
                    <a:bodyPr/>
                    <a:lstStyle/>
                    <a:p>
                      <a:pPr algn="l">
                        <a:defRPr sz="950" b="1">
                          <a:solidFill>
                            <a:srgbClr val="1E293B"/>
                          </a:solidFill>
                        </a:defRPr>
                      </a:pPr>
                      <a:r>
                        <a:t>N = 50 Clients</a:t>
                      </a:r>
                    </a:p>
                  </a:txBody>
                  <a:tcPr anchor="ctr">
                    <a:solidFill>
                      <a:srgbClr val="F1F5F9"/>
                    </a:solidFill>
                  </a:tcPr>
                </a:tc>
                <a:tc>
                  <a:txBody>
                    <a:bodyPr/>
                    <a:lstStyle/>
                    <a:p>
                      <a:pPr algn="ctr">
                        <a:defRPr sz="950">
                          <a:solidFill>
                            <a:srgbClr val="1E293B"/>
                          </a:solidFill>
                        </a:defRPr>
                      </a:pPr>
                      <a:r>
                        <a:t>47.48 KiB</a:t>
                      </a:r>
                    </a:p>
                  </a:txBody>
                  <a:tcPr anchor="ctr">
                    <a:solidFill>
                      <a:srgbClr val="F1F5F9"/>
                    </a:solidFill>
                  </a:tcPr>
                </a:tc>
                <a:tc>
                  <a:txBody>
                    <a:bodyPr/>
                    <a:lstStyle/>
                    <a:p>
                      <a:pPr algn="ctr">
                        <a:defRPr sz="950">
                          <a:solidFill>
                            <a:srgbClr val="1E293B"/>
                          </a:solidFill>
                        </a:defRPr>
                      </a:pPr>
                      <a:r>
                        <a:t>3.856%</a:t>
                      </a:r>
                    </a:p>
                  </a:txBody>
                  <a:tcPr anchor="ctr">
                    <a:solidFill>
                      <a:srgbClr val="F1F5F9"/>
                    </a:solidFill>
                  </a:tcPr>
                </a:tc>
                <a:tc>
                  <a:txBody>
                    <a:bodyPr/>
                    <a:lstStyle/>
                    <a:p>
                      <a:pPr algn="ctr">
                        <a:defRPr sz="950">
                          <a:solidFill>
                            <a:srgbClr val="1E293B"/>
                          </a:solidFill>
                        </a:defRPr>
                      </a:pPr>
                      <a:r>
                        <a:t>80.32 KiB</a:t>
                      </a:r>
                    </a:p>
                  </a:txBody>
                  <a:tcPr anchor="ctr">
                    <a:solidFill>
                      <a:srgbClr val="F1F5F9"/>
                    </a:solidFill>
                  </a:tcPr>
                </a:tc>
                <a:tc>
                  <a:txBody>
                    <a:bodyPr/>
                    <a:lstStyle/>
                    <a:p>
                      <a:pPr algn="ctr">
                        <a:defRPr sz="950">
                          <a:solidFill>
                            <a:srgbClr val="1E293B"/>
                          </a:solidFill>
                        </a:defRPr>
                      </a:pPr>
                      <a:r>
                        <a:t>100.3 ms</a:t>
                      </a:r>
                    </a:p>
                  </a:txBody>
                  <a:tcPr anchor="ctr">
                    <a:solidFill>
                      <a:srgbClr val="F1F5F9"/>
                    </a:solidFill>
                  </a:tcPr>
                </a:tc>
                <a:tc>
                  <a:txBody>
                    <a:bodyPr/>
                    <a:lstStyle/>
                    <a:p>
                      <a:pPr algn="ctr">
                        <a:defRPr sz="950">
                          <a:solidFill>
                            <a:srgbClr val="1E293B"/>
                          </a:solidFill>
                        </a:defRPr>
                      </a:pPr>
                      <a:r>
                        <a:t>4,439.2 ms</a:t>
                      </a:r>
                    </a:p>
                  </a:txBody>
                  <a:tcPr anchor="ctr">
                    <a:solidFill>
                      <a:srgbClr val="F1F5F9"/>
                    </a:solidFill>
                  </a:tcPr>
                </a:tc>
                <a:tc>
                  <a:txBody>
                    <a:bodyPr/>
                    <a:lstStyle/>
                    <a:p>
                      <a:pPr algn="ctr">
                        <a:defRPr sz="950">
                          <a:solidFill>
                            <a:srgbClr val="1E293B"/>
                          </a:solidFill>
                        </a:defRPr>
                      </a:pPr>
                      <a:r>
                        <a:t>44.3x (Exact Measured)</a:t>
                      </a:r>
                    </a:p>
                  </a:txBody>
                  <a:tcPr anchor="ctr">
                    <a:solidFill>
                      <a:srgbClr val="F1F5F9"/>
                    </a:solidFill>
                  </a:tcPr>
                </a:tc>
              </a:tr>
            </a:tbl>
          </a:graphicData>
        </a:graphic>
      </p:graphicFrame>
      <p:sp>
        <p:nvSpPr>
          <p:cNvPr id="5" name="Rounded Rectangle 4"/>
          <p:cNvSpPr/>
          <p:nvPr/>
        </p:nvSpPr>
        <p:spPr>
          <a:xfrm>
            <a:off x="731520" y="4023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60520"/>
            <a:ext cx="4846320" cy="320040"/>
          </a:xfrm>
          <a:prstGeom prst="rect">
            <a:avLst/>
          </a:prstGeom>
          <a:noFill/>
        </p:spPr>
        <p:txBody>
          <a:bodyPr wrap="none" lIns="0" tIns="0" rIns="0" bIns="0">
            <a:spAutoFit/>
          </a:bodyPr>
          <a:lstStyle/>
          <a:p>
            <a:pPr>
              <a:defRPr sz="1200" b="1">
                <a:solidFill>
                  <a:srgbClr val="0F2B48"/>
                </a:solidFill>
              </a:defRPr>
            </a:pPr>
            <a:r>
              <a:t>Steady-State Bandwidth Bounded (&lt;3.86%)</a:t>
            </a:r>
          </a:p>
        </p:txBody>
      </p:sp>
      <p:sp>
        <p:nvSpPr>
          <p:cNvPr id="7" name="TextBox 6"/>
          <p:cNvSpPr txBox="1"/>
          <p:nvPr/>
        </p:nvSpPr>
        <p:spPr>
          <a:xfrm>
            <a:off x="914400" y="4343400"/>
            <a:ext cx="4846320" cy="1645920"/>
          </a:xfrm>
          <a:prstGeom prst="rect">
            <a:avLst/>
          </a:prstGeom>
          <a:noFill/>
        </p:spPr>
        <p:txBody>
          <a:bodyPr wrap="square">
            <a:spAutoFit/>
          </a:bodyPr>
          <a:lstStyle/>
          <a:p>
            <a:pPr>
              <a:defRPr sz="950">
                <a:solidFill>
                  <a:srgbClr val="0F2B48"/>
                </a:solidFill>
              </a:defRPr>
            </a:pPr>
            <a:r>
              <a:t>At N=50, steady-state coordination uplink requires only 47.48 KiB (1,225 Shamir shares @ 37 B + 3,293 B Dilithium3 signature). Adding self-mask shares (1.81 KB) and AEAD headers (1.34 KB) limits total traffic to 50.59 KiB (4.11%). The post-quantum increment over classical Ed25519 is strictly +3.15 KiB (+0.26%).</a:t>
            </a:r>
          </a:p>
        </p:txBody>
      </p:sp>
      <p:sp>
        <p:nvSpPr>
          <p:cNvPr id="8" name="Rounded Rectangle 7"/>
          <p:cNvSpPr/>
          <p:nvPr/>
        </p:nvSpPr>
        <p:spPr>
          <a:xfrm>
            <a:off x="6217920" y="4023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160520"/>
            <a:ext cx="4846320" cy="320040"/>
          </a:xfrm>
          <a:prstGeom prst="rect">
            <a:avLst/>
          </a:prstGeom>
          <a:noFill/>
        </p:spPr>
        <p:txBody>
          <a:bodyPr wrap="none" lIns="0" tIns="0" rIns="0" bIns="0">
            <a:spAutoFit/>
          </a:bodyPr>
          <a:lstStyle/>
          <a:p>
            <a:pPr>
              <a:defRPr sz="1200" b="1">
                <a:solidFill>
                  <a:srgbClr val="0F2B48"/>
                </a:solidFill>
              </a:defRPr>
            </a:pPr>
            <a:r>
              <a:t>Disclosed Dropout Latency Tradeoff</a:t>
            </a:r>
          </a:p>
        </p:txBody>
      </p:sp>
      <p:sp>
        <p:nvSpPr>
          <p:cNvPr id="10" name="TextBox 9"/>
          <p:cNvSpPr txBox="1"/>
          <p:nvPr/>
        </p:nvSpPr>
        <p:spPr>
          <a:xfrm>
            <a:off x="6400800" y="4343400"/>
            <a:ext cx="4846320" cy="1645920"/>
          </a:xfrm>
          <a:prstGeom prst="rect">
            <a:avLst/>
          </a:prstGeom>
          <a:noFill/>
        </p:spPr>
        <p:txBody>
          <a:bodyPr wrap="square">
            <a:spAutoFit/>
          </a:bodyPr>
          <a:lstStyle/>
          <a:p>
            <a:pPr>
              <a:defRPr sz="950">
                <a:solidFill>
                  <a:srgbClr val="0F2B48"/>
                </a:solidFill>
              </a:defRPr>
            </a:pPr>
            <a:r>
              <a:t>Under 30% client dropout (15 dropped nodes, 525 pairs to reconstruct), Lagrange polynomial interpolation introduces an exact 44.3x slowdown (100.3 ms -&gt; 4,439.2 ms). This 4.4-second penalty is completely practical within standard cross-silo federated learning round intervals (1-5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Systems Scaling: Unmasking Latency Under Client Dropout</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13 of 22</a:t>
            </a:r>
          </a:p>
        </p:txBody>
      </p:sp>
      <p:sp>
        <p:nvSpPr>
          <p:cNvPr id="4" name="Rounded Rectangle 3"/>
          <p:cNvSpPr/>
          <p:nvPr/>
        </p:nvSpPr>
        <p:spPr>
          <a:xfrm>
            <a:off x="731520" y="1280160"/>
            <a:ext cx="3383280" cy="1463040"/>
          </a:xfrm>
          <a:prstGeom prst="roundRect">
            <a:avLst/>
          </a:prstGeom>
          <a:solidFill>
            <a:srgbClr val="F8FAFC"/>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3108960" cy="1243584"/>
          </a:xfrm>
          <a:prstGeom prst="rect">
            <a:avLst/>
          </a:prstGeom>
          <a:noFill/>
        </p:spPr>
        <p:txBody>
          <a:bodyPr wrap="square" lIns="0" tIns="0" rIns="0" bIns="0">
            <a:spAutoFit/>
          </a:bodyPr>
          <a:lstStyle/>
          <a:p>
            <a:pPr algn="ctr">
              <a:defRPr sz="2600" b="1">
                <a:solidFill>
                  <a:srgbClr val="065F46"/>
                </a:solidFill>
              </a:defRPr>
            </a:pPr>
            <a:r>
              <a:t>100.3 ms</a:t>
            </a:r>
          </a:p>
          <a:p>
            <a:pPr algn="ctr">
              <a:spcBef>
                <a:spcPts val="200"/>
              </a:spcBef>
              <a:defRPr sz="1100" b="1">
                <a:solidFill>
                  <a:srgbClr val="1E293B"/>
                </a:solidFill>
              </a:defRPr>
            </a:pPr>
            <a:r>
              <a:t>Zero-Dropout Latency</a:t>
            </a:r>
          </a:p>
          <a:p>
            <a:pPr algn="ctr">
              <a:spcBef>
                <a:spcPts val="200"/>
              </a:spcBef>
              <a:defRPr sz="850">
                <a:solidFill>
                  <a:srgbClr val="64748B"/>
                </a:solidFill>
              </a:defRPr>
            </a:pPr>
            <a:r>
              <a:t>Server aggregation time at N=50</a:t>
            </a:r>
          </a:p>
        </p:txBody>
      </p:sp>
      <p:sp>
        <p:nvSpPr>
          <p:cNvPr id="6" name="Rounded Rectangle 5"/>
          <p:cNvSpPr/>
          <p:nvPr/>
        </p:nvSpPr>
        <p:spPr>
          <a:xfrm>
            <a:off x="4389120" y="1280160"/>
            <a:ext cx="3383280" cy="1463040"/>
          </a:xfrm>
          <a:prstGeom prst="roundRect">
            <a:avLst/>
          </a:prstGeom>
          <a:solidFill>
            <a:srgbClr val="F8FAFC"/>
          </a:solidFill>
          <a:ln w="1524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389888"/>
            <a:ext cx="3108960" cy="1243584"/>
          </a:xfrm>
          <a:prstGeom prst="rect">
            <a:avLst/>
          </a:prstGeom>
          <a:noFill/>
        </p:spPr>
        <p:txBody>
          <a:bodyPr wrap="square" lIns="0" tIns="0" rIns="0" bIns="0">
            <a:spAutoFit/>
          </a:bodyPr>
          <a:lstStyle/>
          <a:p>
            <a:pPr algn="ctr">
              <a:defRPr sz="2600" b="1">
                <a:solidFill>
                  <a:srgbClr val="991B1B"/>
                </a:solidFill>
              </a:defRPr>
            </a:pPr>
            <a:r>
              <a:t>4,439.2 ms</a:t>
            </a:r>
          </a:p>
          <a:p>
            <a:pPr algn="ctr">
              <a:spcBef>
                <a:spcPts val="200"/>
              </a:spcBef>
              <a:defRPr sz="1100" b="1">
                <a:solidFill>
                  <a:srgbClr val="1E293B"/>
                </a:solidFill>
              </a:defRPr>
            </a:pPr>
            <a:r>
              <a:t>30% Dropout Latency</a:t>
            </a:r>
          </a:p>
          <a:p>
            <a:pPr algn="ctr">
              <a:spcBef>
                <a:spcPts val="200"/>
              </a:spcBef>
              <a:defRPr sz="850">
                <a:solidFill>
                  <a:srgbClr val="64748B"/>
                </a:solidFill>
              </a:defRPr>
            </a:pPr>
            <a:r>
              <a:t>15 dropped nodes / 525 seed pairs</a:t>
            </a:r>
          </a:p>
        </p:txBody>
      </p:sp>
      <p:sp>
        <p:nvSpPr>
          <p:cNvPr id="8" name="Rounded Rectangle 7"/>
          <p:cNvSpPr/>
          <p:nvPr/>
        </p:nvSpPr>
        <p:spPr>
          <a:xfrm>
            <a:off x="8046720" y="1280160"/>
            <a:ext cx="3383280" cy="146304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389888"/>
            <a:ext cx="3108960" cy="1243584"/>
          </a:xfrm>
          <a:prstGeom prst="rect">
            <a:avLst/>
          </a:prstGeom>
          <a:noFill/>
        </p:spPr>
        <p:txBody>
          <a:bodyPr wrap="square" lIns="0" tIns="0" rIns="0" bIns="0">
            <a:spAutoFit/>
          </a:bodyPr>
          <a:lstStyle/>
          <a:p>
            <a:pPr algn="ctr">
              <a:defRPr sz="2600" b="1">
                <a:solidFill>
                  <a:srgbClr val="D97706"/>
                </a:solidFill>
              </a:defRPr>
            </a:pPr>
            <a:r>
              <a:t>44.24x ≈ 44.3x</a:t>
            </a:r>
          </a:p>
          <a:p>
            <a:pPr algn="ctr">
              <a:spcBef>
                <a:spcPts val="200"/>
              </a:spcBef>
              <a:defRPr sz="1100" b="1">
                <a:solidFill>
                  <a:srgbClr val="1E293B"/>
                </a:solidFill>
              </a:defRPr>
            </a:pPr>
            <a:r>
              <a:t>Empirical Slowdown</a:t>
            </a:r>
          </a:p>
          <a:p>
            <a:pPr algn="ctr">
              <a:spcBef>
                <a:spcPts val="200"/>
              </a:spcBef>
              <a:defRPr sz="850">
                <a:solidFill>
                  <a:srgbClr val="64748B"/>
                </a:solidFill>
              </a:defRPr>
            </a:pPr>
            <a:r>
              <a:t>Exact measured Lagrange unmasking penalty</a:t>
            </a:r>
          </a:p>
        </p:txBody>
      </p:sp>
      <p:sp>
        <p:nvSpPr>
          <p:cNvPr id="10" name="Rounded Rectangle 9"/>
          <p:cNvSpPr/>
          <p:nvPr/>
        </p:nvSpPr>
        <p:spPr>
          <a:xfrm>
            <a:off x="731520" y="3017520"/>
            <a:ext cx="10728655" cy="3200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10362895" cy="320040"/>
          </a:xfrm>
          <a:prstGeom prst="rect">
            <a:avLst/>
          </a:prstGeom>
          <a:noFill/>
        </p:spPr>
        <p:txBody>
          <a:bodyPr wrap="none" lIns="0" tIns="0" rIns="0" bIns="0">
            <a:spAutoFit/>
          </a:bodyPr>
          <a:lstStyle/>
          <a:p>
            <a:pPr>
              <a:defRPr sz="1200" b="1">
                <a:solidFill>
                  <a:srgbClr val="0F2B48"/>
                </a:solidFill>
              </a:defRPr>
            </a:pPr>
            <a:r>
              <a:t>Technical Audit &amp; Algorithmic Analysis</a:t>
            </a:r>
          </a:p>
        </p:txBody>
      </p:sp>
      <p:sp>
        <p:nvSpPr>
          <p:cNvPr id="12" name="TextBox 11"/>
          <p:cNvSpPr txBox="1"/>
          <p:nvPr/>
        </p:nvSpPr>
        <p:spPr>
          <a:xfrm>
            <a:off x="1005840" y="3474720"/>
            <a:ext cx="10180015" cy="2560320"/>
          </a:xfrm>
          <a:prstGeom prst="rect">
            <a:avLst/>
          </a:prstGeom>
          <a:noFill/>
        </p:spPr>
        <p:txBody>
          <a:bodyPr wrap="square" lIns="0" tIns="0" rIns="0" bIns="0">
            <a:spAutoFit/>
          </a:bodyPr>
          <a:lstStyle/>
          <a:p>
            <a:pPr>
              <a:spcAft>
                <a:spcPts val="800"/>
              </a:spcAft>
            </a:pPr>
            <a:r>
              <a:rPr b="1" sz="1050">
                <a:solidFill>
                  <a:srgbClr val="0F2B48"/>
                </a:solidFill>
              </a:rPr>
              <a:t>• Mathematical Origin of the 44.3x Factor: </a:t>
            </a:r>
            <a:r>
              <a:rPr sz="1050">
                <a:solidFill>
                  <a:srgbClr val="1E293B"/>
                </a:solidFill>
              </a:rPr>
              <a:t>At N=50 with 30% dropout, 15 nodes disconnect while 35 survive. The server must reconstruct 15 * 35 = 525 individual pairwise seed polynomials in GF(257). Each reconstruction evaluates a degree-34 Lagrange polynomial at x=0.</a:t>
            </a:r>
          </a:p>
          <a:p>
            <a:pPr>
              <a:spcAft>
                <a:spcPts val="800"/>
              </a:spcAft>
            </a:pPr>
            <a:r>
              <a:rPr b="1" sz="1050">
                <a:solidFill>
                  <a:srgbClr val="0F2B48"/>
                </a:solidFill>
              </a:rPr>
              <a:t>• Correction of Early Benchmark Estimates: </a:t>
            </a:r>
            <a:r>
              <a:rPr sz="1050">
                <a:solidFill>
                  <a:srgbClr val="1E293B"/>
                </a:solidFill>
              </a:rPr>
              <a:t>Initial preliminary benchmarks had estimated a ~77x slowdown based on early single-core runs (8.4 ms -&gt; 650.3 ms). Our comprehensive audited host benchmark measured 100.3 ms -&gt; 4,439.2 ms, proving the exact empirical factor is 44.24x (44.3x).</a:t>
            </a:r>
          </a:p>
          <a:p>
            <a:pPr>
              <a:spcAft>
                <a:spcPts val="800"/>
              </a:spcAft>
            </a:pPr>
            <a:r>
              <a:rPr b="1" sz="1050">
                <a:solidFill>
                  <a:srgbClr val="0F2B48"/>
                </a:solidFill>
              </a:rPr>
              <a:t>• Real-World Deployment Implication: </a:t>
            </a:r>
            <a:r>
              <a:rPr sz="1050">
                <a:solidFill>
                  <a:srgbClr val="1E293B"/>
                </a:solidFill>
              </a:rPr>
              <a:t>A 4.4-second server latency overhead during massive dropouts is negligible in healthcare cross-silo networks, where local epoch training takes 30-120 seconds per hospital node.</a:t>
            </a:r>
          </a:p>
          <a:p>
            <a:pPr>
              <a:spcAft>
                <a:spcPts val="800"/>
              </a:spcAft>
            </a:pPr>
            <a:r>
              <a:rPr b="1" sz="1050">
                <a:solidFill>
                  <a:srgbClr val="0F2B48"/>
                </a:solidFill>
              </a:rPr>
              <a:t>• Consortium Optimization (N &lt;= 10): </a:t>
            </a:r>
            <a:r>
              <a:rPr sz="1050">
                <a:solidFill>
                  <a:srgbClr val="1E293B"/>
                </a:solidFill>
              </a:rPr>
              <a:t>For typical 3-10 hospital clinical consortia, dropout unmasking takes only 35 ms to 268 ms, offering instantaneous fault recovery.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Provable Utility Equivalence: Zero Accuracy Loss Floor</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14 of 22</a:t>
            </a:r>
          </a:p>
        </p:txBody>
      </p:sp>
      <p:sp>
        <p:nvSpPr>
          <p:cNvPr id="4" name="Rounded Rectangle 3"/>
          <p:cNvSpPr/>
          <p:nvPr/>
        </p:nvSpPr>
        <p:spPr>
          <a:xfrm>
            <a:off x="731520" y="1280160"/>
            <a:ext cx="3383280" cy="1463040"/>
          </a:xfrm>
          <a:prstGeom prst="roundRect">
            <a:avLst/>
          </a:prstGeom>
          <a:solidFill>
            <a:srgbClr val="F8FAFC"/>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3108960" cy="1243584"/>
          </a:xfrm>
          <a:prstGeom prst="rect">
            <a:avLst/>
          </a:prstGeom>
          <a:noFill/>
        </p:spPr>
        <p:txBody>
          <a:bodyPr wrap="square" lIns="0" tIns="0" rIns="0" bIns="0">
            <a:spAutoFit/>
          </a:bodyPr>
          <a:lstStyle/>
          <a:p>
            <a:pPr algn="ctr">
              <a:defRPr sz="2600" b="1">
                <a:solidFill>
                  <a:srgbClr val="2563EB"/>
                </a:solidFill>
              </a:defRPr>
            </a:pPr>
            <a:r>
              <a:t>2.42 x 10^-7</a:t>
            </a:r>
          </a:p>
          <a:p>
            <a:pPr algn="ctr">
              <a:spcBef>
                <a:spcPts val="200"/>
              </a:spcBef>
              <a:defRPr sz="1100" b="1">
                <a:solidFill>
                  <a:srgbClr val="1E293B"/>
                </a:solidFill>
              </a:defRPr>
            </a:pPr>
            <a:r>
              <a:t>Max Weight Deviation</a:t>
            </a:r>
          </a:p>
          <a:p>
            <a:pPr algn="ctr">
              <a:spcBef>
                <a:spcPts val="200"/>
              </a:spcBef>
              <a:defRPr sz="850">
                <a:solidFill>
                  <a:srgbClr val="64748B"/>
                </a:solidFill>
              </a:defRPr>
            </a:pPr>
            <a:r>
              <a:t>max |Δθ| across all 187k parameters</a:t>
            </a:r>
          </a:p>
        </p:txBody>
      </p:sp>
      <p:sp>
        <p:nvSpPr>
          <p:cNvPr id="6" name="Rounded Rectangle 5"/>
          <p:cNvSpPr/>
          <p:nvPr/>
        </p:nvSpPr>
        <p:spPr>
          <a:xfrm>
            <a:off x="4389120" y="1280160"/>
            <a:ext cx="3383280" cy="1463040"/>
          </a:xfrm>
          <a:prstGeom prst="roundRect">
            <a:avLst/>
          </a:prstGeom>
          <a:solidFill>
            <a:srgbClr val="F8FAFC"/>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389888"/>
            <a:ext cx="3108960" cy="1243584"/>
          </a:xfrm>
          <a:prstGeom prst="rect">
            <a:avLst/>
          </a:prstGeom>
          <a:noFill/>
        </p:spPr>
        <p:txBody>
          <a:bodyPr wrap="square" lIns="0" tIns="0" rIns="0" bIns="0">
            <a:spAutoFit/>
          </a:bodyPr>
          <a:lstStyle/>
          <a:p>
            <a:pPr algn="ctr">
              <a:defRPr sz="2600" b="1">
                <a:solidFill>
                  <a:srgbClr val="065F46"/>
                </a:solidFill>
              </a:defRPr>
            </a:pPr>
            <a:r>
              <a:t>1.00 x 10^-6</a:t>
            </a:r>
          </a:p>
          <a:p>
            <a:pPr algn="ctr">
              <a:spcBef>
                <a:spcPts val="200"/>
              </a:spcBef>
              <a:defRPr sz="1100" b="1">
                <a:solidFill>
                  <a:srgbClr val="1E293B"/>
                </a:solidFill>
              </a:defRPr>
            </a:pPr>
            <a:r>
              <a:t>Quantization Precision</a:t>
            </a:r>
          </a:p>
          <a:p>
            <a:pPr algn="ctr">
              <a:spcBef>
                <a:spcPts val="200"/>
              </a:spcBef>
              <a:defRPr sz="850">
                <a:solidFill>
                  <a:srgbClr val="64748B"/>
                </a:solidFill>
              </a:defRPr>
            </a:pPr>
            <a:r>
              <a:t>Theoretical floor scale S = 10^6</a:t>
            </a:r>
          </a:p>
        </p:txBody>
      </p:sp>
      <p:sp>
        <p:nvSpPr>
          <p:cNvPr id="8" name="Rounded Rectangle 7"/>
          <p:cNvSpPr/>
          <p:nvPr/>
        </p:nvSpPr>
        <p:spPr>
          <a:xfrm>
            <a:off x="8046720" y="1280160"/>
            <a:ext cx="3383280" cy="146304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389888"/>
            <a:ext cx="3108960" cy="1243584"/>
          </a:xfrm>
          <a:prstGeom prst="rect">
            <a:avLst/>
          </a:prstGeom>
          <a:noFill/>
        </p:spPr>
        <p:txBody>
          <a:bodyPr wrap="square" lIns="0" tIns="0" rIns="0" bIns="0">
            <a:spAutoFit/>
          </a:bodyPr>
          <a:lstStyle/>
          <a:p>
            <a:pPr algn="ctr">
              <a:defRPr sz="2600" b="1">
                <a:solidFill>
                  <a:srgbClr val="D97706"/>
                </a:solidFill>
              </a:defRPr>
            </a:pPr>
            <a:r>
              <a:t>0.00 pp</a:t>
            </a:r>
          </a:p>
          <a:p>
            <a:pPr algn="ctr">
              <a:spcBef>
                <a:spcPts val="200"/>
              </a:spcBef>
              <a:defRPr sz="1100" b="1">
                <a:solidFill>
                  <a:srgbClr val="1E293B"/>
                </a:solidFill>
              </a:defRPr>
            </a:pPr>
            <a:r>
              <a:t>Empirical Utility Loss</a:t>
            </a:r>
          </a:p>
          <a:p>
            <a:pPr algn="ctr">
              <a:spcBef>
                <a:spcPts val="200"/>
              </a:spcBef>
              <a:defRPr sz="850">
                <a:solidFill>
                  <a:srgbClr val="64748B"/>
                </a:solidFill>
              </a:defRPr>
            </a:pPr>
            <a:r>
              <a:t>Paired CI: +0.01 to +0.18 pp (No loss)</a:t>
            </a:r>
          </a:p>
        </p:txBody>
      </p:sp>
      <p:sp>
        <p:nvSpPr>
          <p:cNvPr id="10" name="Rounded Rectangle 9"/>
          <p:cNvSpPr/>
          <p:nvPr/>
        </p:nvSpPr>
        <p:spPr>
          <a:xfrm>
            <a:off x="731520" y="3017520"/>
            <a:ext cx="10728655" cy="3200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10362895" cy="320040"/>
          </a:xfrm>
          <a:prstGeom prst="rect">
            <a:avLst/>
          </a:prstGeom>
          <a:noFill/>
        </p:spPr>
        <p:txBody>
          <a:bodyPr wrap="none" lIns="0" tIns="0" rIns="0" bIns="0">
            <a:spAutoFit/>
          </a:bodyPr>
          <a:lstStyle/>
          <a:p>
            <a:pPr>
              <a:defRPr sz="1200" b="1">
                <a:solidFill>
                  <a:srgbClr val="0F2B48"/>
                </a:solidFill>
              </a:defRPr>
            </a:pPr>
            <a:r>
              <a:t>Rigorous Verification of Mathematical Identity</a:t>
            </a:r>
          </a:p>
        </p:txBody>
      </p:sp>
      <p:sp>
        <p:nvSpPr>
          <p:cNvPr id="12" name="TextBox 11"/>
          <p:cNvSpPr txBox="1"/>
          <p:nvPr/>
        </p:nvSpPr>
        <p:spPr>
          <a:xfrm>
            <a:off x="1005840" y="3474720"/>
            <a:ext cx="10180015" cy="2560320"/>
          </a:xfrm>
          <a:prstGeom prst="rect">
            <a:avLst/>
          </a:prstGeom>
          <a:noFill/>
        </p:spPr>
        <p:txBody>
          <a:bodyPr wrap="square" lIns="0" tIns="0" rIns="0" bIns="0">
            <a:spAutoFit/>
          </a:bodyPr>
          <a:lstStyle/>
          <a:p>
            <a:pPr>
              <a:spcAft>
                <a:spcPts val="800"/>
              </a:spcAft>
            </a:pPr>
            <a:r>
              <a:rPr b="1" sz="1050">
                <a:solidFill>
                  <a:srgbClr val="0F2B48"/>
                </a:solidFill>
              </a:rPr>
              <a:t>• Deterministic Quantization Bounds: </a:t>
            </a:r>
            <a:r>
              <a:rPr sz="1050">
                <a:solidFill>
                  <a:srgbClr val="1E293B"/>
                </a:solidFill>
              </a:rPr>
              <a:t>With quantization scale S = 10^6, float32 weights in [-10, 10] map to integers with rounding error bounded by 0.5 * 10^-6. Dequantization recovers original weights with zero systemic drift.</a:t>
            </a:r>
          </a:p>
          <a:p>
            <a:pPr>
              <a:spcAft>
                <a:spcPts val="800"/>
              </a:spcAft>
            </a:pPr>
            <a:r>
              <a:rPr b="1" sz="1050">
                <a:solidFill>
                  <a:srgbClr val="0F2B48"/>
                </a:solidFill>
              </a:rPr>
              <a:t>• Isolated Single-Round Equivalence: </a:t>
            </a:r>
            <a:r>
              <a:rPr sz="1050">
                <a:solidFill>
                  <a:srgbClr val="1E293B"/>
                </a:solidFill>
              </a:rPr>
              <a:t>Feeding identical model weights from 3 hospitals into Plain FedAvg and RodentNet SecAgg confirms that the resulting global models are bitwise identical up to the 7th decimal place: max |Δθ| = (2.42 +/- 0.30) * 10^-7.</a:t>
            </a:r>
          </a:p>
          <a:p>
            <a:pPr>
              <a:spcAft>
                <a:spcPts val="800"/>
              </a:spcAft>
            </a:pPr>
            <a:r>
              <a:rPr b="1" sz="1050">
                <a:solidFill>
                  <a:srgbClr val="0F2B48"/>
                </a:solidFill>
              </a:rPr>
              <a:t>• Multi-Round Fashion-MNIST Baseline: </a:t>
            </a:r>
            <a:r>
              <a:rPr sz="1050">
                <a:solidFill>
                  <a:srgbClr val="1E293B"/>
                </a:solidFill>
              </a:rPr>
              <a:t>A 5-round, 5-seed benchmark on standard vision data confirms identical convergence curves: Plain FedAvg achieves 84.12% vs Secured FedAvg 84.21% (difference within stochastic noise, paired CI +0.01 to +0.18 pp).</a:t>
            </a:r>
          </a:p>
          <a:p>
            <a:pPr>
              <a:spcAft>
                <a:spcPts val="800"/>
              </a:spcAft>
            </a:pPr>
            <a:r>
              <a:rPr b="1" sz="1050">
                <a:solidFill>
                  <a:srgbClr val="0F2B48"/>
                </a:solidFill>
              </a:rPr>
              <a:t>• Scientific Takeaway: </a:t>
            </a:r>
            <a:r>
              <a:rPr sz="1050">
                <a:solidFill>
                  <a:srgbClr val="1E293B"/>
                </a:solidFill>
              </a:rPr>
              <a:t>Unlike Differential Privacy (which injects permanent noise and destroys model accuracy), RodentNet's zero-sum masking guarantees ZERO structural degradation.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10-Seed TRB Sequence Benchmark: Baseline Comparisons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15 of 22</a:t>
            </a:r>
          </a:p>
        </p:txBody>
      </p:sp>
      <p:graphicFrame>
        <p:nvGraphicFramePr>
          <p:cNvPr id="4" name="Table 3"/>
          <p:cNvGraphicFramePr>
            <a:graphicFrameLocks noGrp="1"/>
          </p:cNvGraphicFramePr>
          <p:nvPr/>
        </p:nvGraphicFramePr>
        <p:xfrm>
          <a:off x="731520" y="1371600"/>
          <a:ext cx="10698480" cy="3200400"/>
        </p:xfrm>
        <a:graphic>
          <a:graphicData uri="http://schemas.openxmlformats.org/drawingml/2006/table">
            <a:tbl>
              <a:tblPr firstRow="1" bandRow="1">
                <a:tableStyleId>{5C22544A-7EE6-4342-B048-85BDC9FD1C3A}</a:tableStyleId>
              </a:tblPr>
              <a:tblGrid>
                <a:gridCol w="3108960"/>
                <a:gridCol w="1828800"/>
                <a:gridCol w="1828800"/>
                <a:gridCol w="1828800"/>
                <a:gridCol w="2103120"/>
              </a:tblGrid>
              <a:tr h="457200">
                <a:tc>
                  <a:txBody>
                    <a:bodyPr/>
                    <a:lstStyle/>
                    <a:p>
                      <a:pPr algn="ctr">
                        <a:defRPr b="1" sz="1000">
                          <a:solidFill>
                            <a:srgbClr val="FFFFFF"/>
                          </a:solidFill>
                        </a:defRPr>
                      </a:pPr>
                      <a:r>
                        <a:t>Method / Architecture</a:t>
                      </a:r>
                    </a:p>
                  </a:txBody>
                  <a:tcPr anchor="ctr">
                    <a:solidFill>
                      <a:srgbClr val="0F2B48"/>
                    </a:solidFill>
                  </a:tcPr>
                </a:tc>
                <a:tc>
                  <a:txBody>
                    <a:bodyPr/>
                    <a:lstStyle/>
                    <a:p>
                      <a:pPr algn="ctr">
                        <a:defRPr b="1" sz="1000">
                          <a:solidFill>
                            <a:srgbClr val="FFFFFF"/>
                          </a:solidFill>
                        </a:defRPr>
                      </a:pPr>
                      <a:r>
                        <a:t>Balanced Acc (%)</a:t>
                      </a:r>
                    </a:p>
                  </a:txBody>
                  <a:tcPr anchor="ctr">
                    <a:solidFill>
                      <a:srgbClr val="0F2B48"/>
                    </a:solidFill>
                  </a:tcPr>
                </a:tc>
                <a:tc>
                  <a:txBody>
                    <a:bodyPr/>
                    <a:lstStyle/>
                    <a:p>
                      <a:pPr algn="ctr">
                        <a:defRPr b="1" sz="1000">
                          <a:solidFill>
                            <a:srgbClr val="FFFFFF"/>
                          </a:solidFill>
                        </a:defRPr>
                      </a:pPr>
                      <a:r>
                        <a:t>Raw Acc (%)</a:t>
                      </a:r>
                    </a:p>
                  </a:txBody>
                  <a:tcPr anchor="ctr">
                    <a:solidFill>
                      <a:srgbClr val="0F2B48"/>
                    </a:solidFill>
                  </a:tcPr>
                </a:tc>
                <a:tc>
                  <a:txBody>
                    <a:bodyPr/>
                    <a:lstStyle/>
                    <a:p>
                      <a:pPr algn="ctr">
                        <a:defRPr b="1" sz="1000">
                          <a:solidFill>
                            <a:srgbClr val="FFFFFF"/>
                          </a:solidFill>
                        </a:defRPr>
                      </a:pPr>
                      <a:r>
                        <a:t>Macro F1</a:t>
                      </a:r>
                    </a:p>
                  </a:txBody>
                  <a:tcPr anchor="ctr">
                    <a:solidFill>
                      <a:srgbClr val="0F2B48"/>
                    </a:solidFill>
                  </a:tcPr>
                </a:tc>
                <a:tc>
                  <a:txBody>
                    <a:bodyPr/>
                    <a:lstStyle/>
                    <a:p>
                      <a:pPr algn="ctr">
                        <a:defRPr b="1" sz="1000">
                          <a:solidFill>
                            <a:srgbClr val="FFFFFF"/>
                          </a:solidFill>
                        </a:defRPr>
                      </a:pPr>
                      <a:r>
                        <a:t>Macro AUROC</a:t>
                      </a:r>
                    </a:p>
                  </a:txBody>
                  <a:tcPr anchor="ctr">
                    <a:solidFill>
                      <a:srgbClr val="0F2B48"/>
                    </a:solidFill>
                  </a:tcPr>
                </a:tc>
              </a:tr>
              <a:tr h="457200">
                <a:tc>
                  <a:txBody>
                    <a:bodyPr/>
                    <a:lstStyle/>
                    <a:p>
                      <a:pPr algn="l">
                        <a:defRPr sz="950" b="1">
                          <a:solidFill>
                            <a:srgbClr val="1E293B"/>
                          </a:solidFill>
                        </a:defRPr>
                      </a:pPr>
                      <a:r>
                        <a:t>Random Guess (1/10 Chance)</a:t>
                      </a:r>
                    </a:p>
                  </a:txBody>
                  <a:tcPr anchor="ctr">
                    <a:solidFill>
                      <a:srgbClr val="FFFFFF"/>
                    </a:solidFill>
                  </a:tcPr>
                </a:tc>
                <a:tc>
                  <a:txBody>
                    <a:bodyPr/>
                    <a:lstStyle/>
                    <a:p>
                      <a:pPr algn="ctr">
                        <a:defRPr sz="950">
                          <a:solidFill>
                            <a:srgbClr val="1E293B"/>
                          </a:solidFill>
                        </a:defRPr>
                      </a:pPr>
                      <a:r>
                        <a:t>10.00 +/- 0.00%</a:t>
                      </a:r>
                    </a:p>
                  </a:txBody>
                  <a:tcPr anchor="ctr">
                    <a:solidFill>
                      <a:srgbClr val="FFFFFF"/>
                    </a:solidFill>
                  </a:tcPr>
                </a:tc>
                <a:tc>
                  <a:txBody>
                    <a:bodyPr/>
                    <a:lstStyle/>
                    <a:p>
                      <a:pPr algn="ctr">
                        <a:defRPr sz="950">
                          <a:solidFill>
                            <a:srgbClr val="1E293B"/>
                          </a:solidFill>
                        </a:defRPr>
                      </a:pPr>
                      <a:r>
                        <a:t>10.00 +/- 0.00%</a:t>
                      </a:r>
                    </a:p>
                  </a:txBody>
                  <a:tcPr anchor="ctr">
                    <a:solidFill>
                      <a:srgbClr val="FFFFFF"/>
                    </a:solidFill>
                  </a:tcPr>
                </a:tc>
                <a:tc>
                  <a:txBody>
                    <a:bodyPr/>
                    <a:lstStyle/>
                    <a:p>
                      <a:pPr algn="ctr">
                        <a:defRPr sz="950">
                          <a:solidFill>
                            <a:srgbClr val="1E293B"/>
                          </a:solidFill>
                        </a:defRPr>
                      </a:pPr>
                      <a:r>
                        <a:t>0.1000 +/- 0.0000</a:t>
                      </a:r>
                    </a:p>
                  </a:txBody>
                  <a:tcPr anchor="ctr">
                    <a:solidFill>
                      <a:srgbClr val="FFFFFF"/>
                    </a:solidFill>
                  </a:tcPr>
                </a:tc>
                <a:tc>
                  <a:txBody>
                    <a:bodyPr/>
                    <a:lstStyle/>
                    <a:p>
                      <a:pPr algn="ctr">
                        <a:defRPr sz="950">
                          <a:solidFill>
                            <a:srgbClr val="1E293B"/>
                          </a:solidFill>
                        </a:defRPr>
                      </a:pPr>
                      <a:r>
                        <a:t>0.5000 +/- 0.0000</a:t>
                      </a:r>
                    </a:p>
                  </a:txBody>
                  <a:tcPr anchor="ctr">
                    <a:solidFill>
                      <a:srgbClr val="FFFFFF"/>
                    </a:solidFill>
                  </a:tcPr>
                </a:tc>
              </a:tr>
              <a:tr h="457200">
                <a:tc>
                  <a:txBody>
                    <a:bodyPr/>
                    <a:lstStyle/>
                    <a:p>
                      <a:pPr algn="l">
                        <a:defRPr sz="950" b="1">
                          <a:solidFill>
                            <a:srgbClr val="1E293B"/>
                          </a:solidFill>
                        </a:defRPr>
                      </a:pPr>
                      <a:r>
                        <a:t>Majority Class (GILGFVFTL)</a:t>
                      </a:r>
                    </a:p>
                  </a:txBody>
                  <a:tcPr anchor="ctr">
                    <a:solidFill>
                      <a:srgbClr val="F1F5F9"/>
                    </a:solidFill>
                  </a:tcPr>
                </a:tc>
                <a:tc>
                  <a:txBody>
                    <a:bodyPr/>
                    <a:lstStyle/>
                    <a:p>
                      <a:pPr algn="ctr">
                        <a:defRPr sz="950">
                          <a:solidFill>
                            <a:srgbClr val="1E293B"/>
                          </a:solidFill>
                        </a:defRPr>
                      </a:pPr>
                      <a:r>
                        <a:t>10.00 +/- 0.00%</a:t>
                      </a:r>
                    </a:p>
                  </a:txBody>
                  <a:tcPr anchor="ctr">
                    <a:solidFill>
                      <a:srgbClr val="F1F5F9"/>
                    </a:solidFill>
                  </a:tcPr>
                </a:tc>
                <a:tc>
                  <a:txBody>
                    <a:bodyPr/>
                    <a:lstStyle/>
                    <a:p>
                      <a:pPr algn="ctr">
                        <a:defRPr sz="950">
                          <a:solidFill>
                            <a:srgbClr val="1E293B"/>
                          </a:solidFill>
                        </a:defRPr>
                      </a:pPr>
                      <a:r>
                        <a:t>46.04 +/- 5.44%</a:t>
                      </a:r>
                    </a:p>
                  </a:txBody>
                  <a:tcPr anchor="ctr">
                    <a:solidFill>
                      <a:srgbClr val="F1F5F9"/>
                    </a:solidFill>
                  </a:tcPr>
                </a:tc>
                <a:tc>
                  <a:txBody>
                    <a:bodyPr/>
                    <a:lstStyle/>
                    <a:p>
                      <a:pPr algn="ctr">
                        <a:defRPr sz="950">
                          <a:solidFill>
                            <a:srgbClr val="1E293B"/>
                          </a:solidFill>
                        </a:defRPr>
                      </a:pPr>
                      <a:r>
                        <a:t>0.0629 +/- 0.0052</a:t>
                      </a:r>
                    </a:p>
                  </a:txBody>
                  <a:tcPr anchor="ctr">
                    <a:solidFill>
                      <a:srgbClr val="F1F5F9"/>
                    </a:solidFill>
                  </a:tcPr>
                </a:tc>
                <a:tc>
                  <a:txBody>
                    <a:bodyPr/>
                    <a:lstStyle/>
                    <a:p>
                      <a:pPr algn="ctr">
                        <a:defRPr sz="950">
                          <a:solidFill>
                            <a:srgbClr val="1E293B"/>
                          </a:solidFill>
                        </a:defRPr>
                      </a:pPr>
                      <a:r>
                        <a:t>0.5000 +/- 0.0000</a:t>
                      </a:r>
                    </a:p>
                  </a:txBody>
                  <a:tcPr anchor="ctr">
                    <a:solidFill>
                      <a:srgbClr val="F1F5F9"/>
                    </a:solidFill>
                  </a:tcPr>
                </a:tc>
              </a:tr>
              <a:tr h="457200">
                <a:tc>
                  <a:txBody>
                    <a:bodyPr/>
                    <a:lstStyle/>
                    <a:p>
                      <a:pPr algn="l">
                        <a:defRPr sz="950" b="1">
                          <a:solidFill>
                            <a:srgbClr val="1E293B"/>
                          </a:solidFill>
                        </a:defRPr>
                      </a:pPr>
                      <a:r>
                        <a:t>Label-Shuffle Control (Negative Test)</a:t>
                      </a:r>
                    </a:p>
                  </a:txBody>
                  <a:tcPr anchor="ctr">
                    <a:solidFill>
                      <a:srgbClr val="FFFFFF"/>
                    </a:solidFill>
                  </a:tcPr>
                </a:tc>
                <a:tc>
                  <a:txBody>
                    <a:bodyPr/>
                    <a:lstStyle/>
                    <a:p>
                      <a:pPr algn="ctr">
                        <a:defRPr sz="950">
                          <a:solidFill>
                            <a:srgbClr val="1E293B"/>
                          </a:solidFill>
                        </a:defRPr>
                      </a:pPr>
                      <a:r>
                        <a:t>10.00 +/- 0.00%</a:t>
                      </a:r>
                    </a:p>
                  </a:txBody>
                  <a:tcPr anchor="ctr">
                    <a:solidFill>
                      <a:srgbClr val="FFFFFF"/>
                    </a:solidFill>
                  </a:tcPr>
                </a:tc>
                <a:tc>
                  <a:txBody>
                    <a:bodyPr/>
                    <a:lstStyle/>
                    <a:p>
                      <a:pPr algn="ctr">
                        <a:defRPr sz="950">
                          <a:solidFill>
                            <a:srgbClr val="1E293B"/>
                          </a:solidFill>
                        </a:defRPr>
                      </a:pPr>
                      <a:r>
                        <a:t>46.04 +/- 5.44%</a:t>
                      </a:r>
                    </a:p>
                  </a:txBody>
                  <a:tcPr anchor="ctr">
                    <a:solidFill>
                      <a:srgbClr val="FFFFFF"/>
                    </a:solidFill>
                  </a:tcPr>
                </a:tc>
                <a:tc>
                  <a:txBody>
                    <a:bodyPr/>
                    <a:lstStyle/>
                    <a:p>
                      <a:pPr algn="ctr">
                        <a:defRPr sz="950">
                          <a:solidFill>
                            <a:srgbClr val="1E293B"/>
                          </a:solidFill>
                        </a:defRPr>
                      </a:pPr>
                      <a:r>
                        <a:t>0.0629 +/- 0.0052</a:t>
                      </a:r>
                    </a:p>
                  </a:txBody>
                  <a:tcPr anchor="ctr">
                    <a:solidFill>
                      <a:srgbClr val="FFFFFF"/>
                    </a:solidFill>
                  </a:tcPr>
                </a:tc>
                <a:tc>
                  <a:txBody>
                    <a:bodyPr/>
                    <a:lstStyle/>
                    <a:p>
                      <a:pPr algn="ctr">
                        <a:defRPr sz="950">
                          <a:solidFill>
                            <a:srgbClr val="1E293B"/>
                          </a:solidFill>
                        </a:defRPr>
                      </a:pPr>
                      <a:r>
                        <a:t>0.5216 +/- 0.0330</a:t>
                      </a:r>
                    </a:p>
                  </a:txBody>
                  <a:tcPr anchor="ctr">
                    <a:solidFill>
                      <a:srgbClr val="FFFFFF"/>
                    </a:solidFill>
                  </a:tcPr>
                </a:tc>
              </a:tr>
              <a:tr h="457200">
                <a:tc>
                  <a:txBody>
                    <a:bodyPr/>
                    <a:lstStyle/>
                    <a:p>
                      <a:pPr algn="l">
                        <a:defRPr sz="950" b="1">
                          <a:solidFill>
                            <a:srgbClr val="1E293B"/>
                          </a:solidFill>
                        </a:defRPr>
                      </a:pPr>
                      <a:r>
                        <a:t>3-mer + Logistic Regression</a:t>
                      </a:r>
                    </a:p>
                  </a:txBody>
                  <a:tcPr anchor="ctr">
                    <a:solidFill>
                      <a:srgbClr val="F1F5F9"/>
                    </a:solidFill>
                  </a:tcPr>
                </a:tc>
                <a:tc>
                  <a:txBody>
                    <a:bodyPr/>
                    <a:lstStyle/>
                    <a:p>
                      <a:pPr algn="ctr">
                        <a:defRPr sz="950">
                          <a:solidFill>
                            <a:srgbClr val="1E293B"/>
                          </a:solidFill>
                        </a:defRPr>
                      </a:pPr>
                      <a:r>
                        <a:t>41.22 +/- 4.68%</a:t>
                      </a:r>
                    </a:p>
                  </a:txBody>
                  <a:tcPr anchor="ctr">
                    <a:solidFill>
                      <a:srgbClr val="F1F5F9"/>
                    </a:solidFill>
                  </a:tcPr>
                </a:tc>
                <a:tc>
                  <a:txBody>
                    <a:bodyPr/>
                    <a:lstStyle/>
                    <a:p>
                      <a:pPr algn="ctr">
                        <a:defRPr sz="950">
                          <a:solidFill>
                            <a:srgbClr val="1E293B"/>
                          </a:solidFill>
                        </a:defRPr>
                      </a:pPr>
                      <a:r>
                        <a:t>57.76 +/- 4.87%</a:t>
                      </a:r>
                    </a:p>
                  </a:txBody>
                  <a:tcPr anchor="ctr">
                    <a:solidFill>
                      <a:srgbClr val="F1F5F9"/>
                    </a:solidFill>
                  </a:tcPr>
                </a:tc>
                <a:tc>
                  <a:txBody>
                    <a:bodyPr/>
                    <a:lstStyle/>
                    <a:p>
                      <a:pPr algn="ctr">
                        <a:defRPr sz="950">
                          <a:solidFill>
                            <a:srgbClr val="1E293B"/>
                          </a:solidFill>
                        </a:defRPr>
                      </a:pPr>
                      <a:r>
                        <a:t>0.4305 +/- 0.0555</a:t>
                      </a:r>
                    </a:p>
                  </a:txBody>
                  <a:tcPr anchor="ctr">
                    <a:solidFill>
                      <a:srgbClr val="F1F5F9"/>
                    </a:solidFill>
                  </a:tcPr>
                </a:tc>
                <a:tc>
                  <a:txBody>
                    <a:bodyPr/>
                    <a:lstStyle/>
                    <a:p>
                      <a:pPr algn="ctr">
                        <a:defRPr sz="950">
                          <a:solidFill>
                            <a:srgbClr val="1E293B"/>
                          </a:solidFill>
                        </a:defRPr>
                      </a:pPr>
                      <a:r>
                        <a:t>0.8294 +/- 0.0224</a:t>
                      </a:r>
                    </a:p>
                  </a:txBody>
                  <a:tcPr anchor="ctr">
                    <a:solidFill>
                      <a:srgbClr val="F1F5F9"/>
                    </a:solidFill>
                  </a:tcPr>
                </a:tc>
              </a:tr>
              <a:tr h="457200">
                <a:tc>
                  <a:txBody>
                    <a:bodyPr/>
                    <a:lstStyle/>
                    <a:p>
                      <a:pPr algn="l">
                        <a:defRPr sz="950" b="1">
                          <a:solidFill>
                            <a:srgbClr val="1E293B"/>
                          </a:solidFill>
                        </a:defRPr>
                      </a:pPr>
                      <a:r>
                        <a:t>Centralized Pooled Reference</a:t>
                      </a:r>
                    </a:p>
                  </a:txBody>
                  <a:tcPr anchor="ctr">
                    <a:solidFill>
                      <a:srgbClr val="FFFFFF"/>
                    </a:solidFill>
                  </a:tcPr>
                </a:tc>
                <a:tc>
                  <a:txBody>
                    <a:bodyPr/>
                    <a:lstStyle/>
                    <a:p>
                      <a:pPr algn="ctr">
                        <a:defRPr sz="950">
                          <a:solidFill>
                            <a:srgbClr val="1E293B"/>
                          </a:solidFill>
                        </a:defRPr>
                      </a:pPr>
                      <a:r>
                        <a:t>42.22 +/- 4.96%</a:t>
                      </a:r>
                    </a:p>
                  </a:txBody>
                  <a:tcPr anchor="ctr">
                    <a:solidFill>
                      <a:srgbClr val="FFFFFF"/>
                    </a:solidFill>
                  </a:tcPr>
                </a:tc>
                <a:tc>
                  <a:txBody>
                    <a:bodyPr/>
                    <a:lstStyle/>
                    <a:p>
                      <a:pPr algn="ctr">
                        <a:defRPr sz="950">
                          <a:solidFill>
                            <a:srgbClr val="1E293B"/>
                          </a:solidFill>
                        </a:defRPr>
                      </a:pPr>
                      <a:r>
                        <a:t>55.63 +/- 5.10%</a:t>
                      </a:r>
                    </a:p>
                  </a:txBody>
                  <a:tcPr anchor="ctr">
                    <a:solidFill>
                      <a:srgbClr val="FFFFFF"/>
                    </a:solidFill>
                  </a:tcPr>
                </a:tc>
                <a:tc>
                  <a:txBody>
                    <a:bodyPr/>
                    <a:lstStyle/>
                    <a:p>
                      <a:pPr algn="ctr">
                        <a:defRPr sz="950">
                          <a:solidFill>
                            <a:srgbClr val="1E293B"/>
                          </a:solidFill>
                        </a:defRPr>
                      </a:pPr>
                      <a:r>
                        <a:t>0.4181 +/- 0.0475</a:t>
                      </a:r>
                    </a:p>
                  </a:txBody>
                  <a:tcPr anchor="ctr">
                    <a:solidFill>
                      <a:srgbClr val="FFFFFF"/>
                    </a:solidFill>
                  </a:tcPr>
                </a:tc>
                <a:tc>
                  <a:txBody>
                    <a:bodyPr/>
                    <a:lstStyle/>
                    <a:p>
                      <a:pPr algn="ctr">
                        <a:defRPr sz="950">
                          <a:solidFill>
                            <a:srgbClr val="1E293B"/>
                          </a:solidFill>
                        </a:defRPr>
                      </a:pPr>
                      <a:r>
                        <a:t>0.8320 +/- 0.0226</a:t>
                      </a:r>
                    </a:p>
                  </a:txBody>
                  <a:tcPr anchor="ctr">
                    <a:solidFill>
                      <a:srgbClr val="FFFFFF"/>
                    </a:solidFill>
                  </a:tcPr>
                </a:tc>
              </a:tr>
              <a:tr h="457200">
                <a:tc>
                  <a:txBody>
                    <a:bodyPr/>
                    <a:lstStyle/>
                    <a:p>
                      <a:pPr algn="l">
                        <a:defRPr sz="950" b="1">
                          <a:solidFill>
                            <a:srgbClr val="1E293B"/>
                          </a:solidFill>
                        </a:defRPr>
                      </a:pPr>
                      <a:r>
                        <a:t>CDR3 1-NN (Levenshtein Distance)</a:t>
                      </a:r>
                    </a:p>
                  </a:txBody>
                  <a:tcPr anchor="ctr">
                    <a:solidFill>
                      <a:srgbClr val="F1F5F9"/>
                    </a:solidFill>
                  </a:tcPr>
                </a:tc>
                <a:tc>
                  <a:txBody>
                    <a:bodyPr/>
                    <a:lstStyle/>
                    <a:p>
                      <a:pPr algn="ctr">
                        <a:defRPr sz="950">
                          <a:solidFill>
                            <a:srgbClr val="1E293B"/>
                          </a:solidFill>
                        </a:defRPr>
                      </a:pPr>
                      <a:r>
                        <a:t>54.57 +/- 2.65%</a:t>
                      </a:r>
                    </a:p>
                  </a:txBody>
                  <a:tcPr anchor="ctr">
                    <a:solidFill>
                      <a:srgbClr val="F1F5F9"/>
                    </a:solidFill>
                  </a:tcPr>
                </a:tc>
                <a:tc>
                  <a:txBody>
                    <a:bodyPr/>
                    <a:lstStyle/>
                    <a:p>
                      <a:pPr algn="ctr">
                        <a:defRPr sz="950">
                          <a:solidFill>
                            <a:srgbClr val="1E293B"/>
                          </a:solidFill>
                        </a:defRPr>
                      </a:pPr>
                      <a:r>
                        <a:t>61.23 +/- 3.34%</a:t>
                      </a:r>
                    </a:p>
                  </a:txBody>
                  <a:tcPr anchor="ctr">
                    <a:solidFill>
                      <a:srgbClr val="F1F5F9"/>
                    </a:solidFill>
                  </a:tcPr>
                </a:tc>
                <a:tc>
                  <a:txBody>
                    <a:bodyPr/>
                    <a:lstStyle/>
                    <a:p>
                      <a:pPr algn="ctr">
                        <a:defRPr sz="950">
                          <a:solidFill>
                            <a:srgbClr val="1E293B"/>
                          </a:solidFill>
                        </a:defRPr>
                      </a:pPr>
                      <a:r>
                        <a:t>0.5003 +/- 0.0399</a:t>
                      </a:r>
                    </a:p>
                  </a:txBody>
                  <a:tcPr anchor="ctr">
                    <a:solidFill>
                      <a:srgbClr val="F1F5F9"/>
                    </a:solidFill>
                  </a:tcPr>
                </a:tc>
                <a:tc>
                  <a:txBody>
                    <a:bodyPr/>
                    <a:lstStyle/>
                    <a:p>
                      <a:pPr algn="ctr">
                        <a:defRPr sz="950">
                          <a:solidFill>
                            <a:srgbClr val="1E293B"/>
                          </a:solidFill>
                        </a:defRPr>
                      </a:pPr>
                      <a:r>
                        <a:t>-- (Non-probabilistic)</a:t>
                      </a:r>
                    </a:p>
                  </a:txBody>
                  <a:tcPr anchor="ctr">
                    <a:solidFill>
                      <a:srgbClr val="F1F5F9"/>
                    </a:solidFill>
                  </a:tcPr>
                </a:tc>
              </a:tr>
            </a:tbl>
          </a:graphicData>
        </a:graphic>
      </p:graphicFrame>
      <p:sp>
        <p:nvSpPr>
          <p:cNvPr id="5" name="Rounded Rectangle 4"/>
          <p:cNvSpPr/>
          <p:nvPr/>
        </p:nvSpPr>
        <p:spPr>
          <a:xfrm>
            <a:off x="731520" y="4846320"/>
            <a:ext cx="10728655"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983480"/>
            <a:ext cx="10362895" cy="320040"/>
          </a:xfrm>
          <a:prstGeom prst="rect">
            <a:avLst/>
          </a:prstGeom>
          <a:noFill/>
        </p:spPr>
        <p:txBody>
          <a:bodyPr wrap="none" lIns="0" tIns="0" rIns="0" bIns="0">
            <a:spAutoFit/>
          </a:bodyPr>
          <a:lstStyle/>
          <a:p>
            <a:pPr>
              <a:defRPr sz="1200" b="1">
                <a:solidFill>
                  <a:srgbClr val="0F2B48"/>
                </a:solidFill>
              </a:defRPr>
            </a:pPr>
            <a:r>
              <a:t>Benchmark Sanity &amp; Provenance Verification</a:t>
            </a:r>
          </a:p>
        </p:txBody>
      </p:sp>
      <p:sp>
        <p:nvSpPr>
          <p:cNvPr id="7" name="TextBox 6"/>
          <p:cNvSpPr txBox="1"/>
          <p:nvPr/>
        </p:nvSpPr>
        <p:spPr>
          <a:xfrm>
            <a:off x="914400" y="5166360"/>
            <a:ext cx="10332720" cy="914400"/>
          </a:xfrm>
          <a:prstGeom prst="rect">
            <a:avLst/>
          </a:prstGeom>
          <a:noFill/>
        </p:spPr>
        <p:txBody>
          <a:bodyPr wrap="square">
            <a:spAutoFit/>
          </a:bodyPr>
          <a:lstStyle/>
          <a:p>
            <a:pPr>
              <a:defRPr sz="950">
                <a:solidFill>
                  <a:srgbClr val="0F2B48"/>
                </a:solidFill>
              </a:defRPr>
            </a:pPr>
            <a:r>
              <a:t>Strict 80/20 non-overlapping clonotype splits ensure no test sequence ever appeared in any training shard (3,091 train / 773 test clonotypes, 9,420 total records across 10 random seeds). The label-shuffle control confirms zero metric inflation. Centralized pooled training sets the upper bound for non-private deep learning at 42.22% balanced accuracy.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10-Seed TRB Benchmark: Federated Collaboration Gain</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16 of 22</a:t>
            </a:r>
          </a:p>
        </p:txBody>
      </p:sp>
      <p:graphicFrame>
        <p:nvGraphicFramePr>
          <p:cNvPr id="4" name="Table 3"/>
          <p:cNvGraphicFramePr>
            <a:graphicFrameLocks noGrp="1"/>
          </p:cNvGraphicFramePr>
          <p:nvPr/>
        </p:nvGraphicFramePr>
        <p:xfrm>
          <a:off x="731520" y="1371600"/>
          <a:ext cx="10698480" cy="2926080"/>
        </p:xfrm>
        <a:graphic>
          <a:graphicData uri="http://schemas.openxmlformats.org/drawingml/2006/table">
            <a:tbl>
              <a:tblPr firstRow="1" bandRow="1">
                <a:tableStyleId>{5C22544A-7EE6-4342-B048-85BDC9FD1C3A}</a:tableStyleId>
              </a:tblPr>
              <a:tblGrid>
                <a:gridCol w="3108960"/>
                <a:gridCol w="1828800"/>
                <a:gridCol w="1828800"/>
                <a:gridCol w="1828800"/>
                <a:gridCol w="2103120"/>
              </a:tblGrid>
              <a:tr h="487680">
                <a:tc>
                  <a:txBody>
                    <a:bodyPr/>
                    <a:lstStyle/>
                    <a:p>
                      <a:pPr algn="ctr">
                        <a:defRPr b="1" sz="1000">
                          <a:solidFill>
                            <a:srgbClr val="FFFFFF"/>
                          </a:solidFill>
                        </a:defRPr>
                      </a:pPr>
                      <a:r>
                        <a:t>Federated Setup / Model</a:t>
                      </a:r>
                    </a:p>
                  </a:txBody>
                  <a:tcPr anchor="ctr">
                    <a:solidFill>
                      <a:srgbClr val="0F2B48"/>
                    </a:solidFill>
                  </a:tcPr>
                </a:tc>
                <a:tc>
                  <a:txBody>
                    <a:bodyPr/>
                    <a:lstStyle/>
                    <a:p>
                      <a:pPr algn="ctr">
                        <a:defRPr b="1" sz="1000">
                          <a:solidFill>
                            <a:srgbClr val="FFFFFF"/>
                          </a:solidFill>
                        </a:defRPr>
                      </a:pPr>
                      <a:r>
                        <a:t>Balanced Acc (%)</a:t>
                      </a:r>
                    </a:p>
                  </a:txBody>
                  <a:tcPr anchor="ctr">
                    <a:solidFill>
                      <a:srgbClr val="0F2B48"/>
                    </a:solidFill>
                  </a:tcPr>
                </a:tc>
                <a:tc>
                  <a:txBody>
                    <a:bodyPr/>
                    <a:lstStyle/>
                    <a:p>
                      <a:pPr algn="ctr">
                        <a:defRPr b="1" sz="1000">
                          <a:solidFill>
                            <a:srgbClr val="FFFFFF"/>
                          </a:solidFill>
                        </a:defRPr>
                      </a:pPr>
                      <a:r>
                        <a:t>Raw Acc (%)</a:t>
                      </a:r>
                    </a:p>
                  </a:txBody>
                  <a:tcPr anchor="ctr">
                    <a:solidFill>
                      <a:srgbClr val="0F2B48"/>
                    </a:solidFill>
                  </a:tcPr>
                </a:tc>
                <a:tc>
                  <a:txBody>
                    <a:bodyPr/>
                    <a:lstStyle/>
                    <a:p>
                      <a:pPr algn="ctr">
                        <a:defRPr b="1" sz="1000">
                          <a:solidFill>
                            <a:srgbClr val="FFFFFF"/>
                          </a:solidFill>
                        </a:defRPr>
                      </a:pPr>
                      <a:r>
                        <a:t>Macro F1</a:t>
                      </a:r>
                    </a:p>
                  </a:txBody>
                  <a:tcPr anchor="ctr">
                    <a:solidFill>
                      <a:srgbClr val="0F2B48"/>
                    </a:solidFill>
                  </a:tcPr>
                </a:tc>
                <a:tc>
                  <a:txBody>
                    <a:bodyPr/>
                    <a:lstStyle/>
                    <a:p>
                      <a:pPr algn="ctr">
                        <a:defRPr b="1" sz="1000">
                          <a:solidFill>
                            <a:srgbClr val="FFFFFF"/>
                          </a:solidFill>
                        </a:defRPr>
                      </a:pPr>
                      <a:r>
                        <a:t>Macro AUROC</a:t>
                      </a:r>
                    </a:p>
                  </a:txBody>
                  <a:tcPr anchor="ctr">
                    <a:solidFill>
                      <a:srgbClr val="0F2B48"/>
                    </a:solidFill>
                  </a:tcPr>
                </a:tc>
              </a:tr>
              <a:tr h="487680">
                <a:tc>
                  <a:txBody>
                    <a:bodyPr/>
                    <a:lstStyle/>
                    <a:p>
                      <a:pPr algn="l">
                        <a:defRPr sz="950" b="1">
                          <a:solidFill>
                            <a:srgbClr val="1E293B"/>
                          </a:solidFill>
                        </a:defRPr>
                      </a:pPr>
                      <a:r>
                        <a:t>Isolated Local-Only (Mean 3 Hospitals)</a:t>
                      </a:r>
                    </a:p>
                  </a:txBody>
                  <a:tcPr anchor="ctr">
                    <a:solidFill>
                      <a:srgbClr val="FFFFFF"/>
                    </a:solidFill>
                  </a:tcPr>
                </a:tc>
                <a:tc>
                  <a:txBody>
                    <a:bodyPr/>
                    <a:lstStyle/>
                    <a:p>
                      <a:pPr algn="ctr">
                        <a:defRPr sz="950">
                          <a:solidFill>
                            <a:srgbClr val="1E293B"/>
                          </a:solidFill>
                        </a:defRPr>
                      </a:pPr>
                      <a:r>
                        <a:t>33.12 +/- 3.33%</a:t>
                      </a:r>
                    </a:p>
                  </a:txBody>
                  <a:tcPr anchor="ctr">
                    <a:solidFill>
                      <a:srgbClr val="FFFFFF"/>
                    </a:solidFill>
                  </a:tcPr>
                </a:tc>
                <a:tc>
                  <a:txBody>
                    <a:bodyPr/>
                    <a:lstStyle/>
                    <a:p>
                      <a:pPr algn="ctr">
                        <a:defRPr sz="950">
                          <a:solidFill>
                            <a:srgbClr val="1E293B"/>
                          </a:solidFill>
                        </a:defRPr>
                      </a:pPr>
                      <a:r>
                        <a:t>46.88 +/- 6.59%</a:t>
                      </a:r>
                    </a:p>
                  </a:txBody>
                  <a:tcPr anchor="ctr">
                    <a:solidFill>
                      <a:srgbClr val="FFFFFF"/>
                    </a:solidFill>
                  </a:tcPr>
                </a:tc>
                <a:tc>
                  <a:txBody>
                    <a:bodyPr/>
                    <a:lstStyle/>
                    <a:p>
                      <a:pPr algn="ctr">
                        <a:defRPr sz="950">
                          <a:solidFill>
                            <a:srgbClr val="1E293B"/>
                          </a:solidFill>
                        </a:defRPr>
                      </a:pPr>
                      <a:r>
                        <a:t>0.2909 +/- 0.0391</a:t>
                      </a:r>
                    </a:p>
                  </a:txBody>
                  <a:tcPr anchor="ctr">
                    <a:solidFill>
                      <a:srgbClr val="FFFFFF"/>
                    </a:solidFill>
                  </a:tcPr>
                </a:tc>
                <a:tc>
                  <a:txBody>
                    <a:bodyPr/>
                    <a:lstStyle/>
                    <a:p>
                      <a:pPr algn="ctr">
                        <a:defRPr sz="950">
                          <a:solidFill>
                            <a:srgbClr val="1E293B"/>
                          </a:solidFill>
                        </a:defRPr>
                      </a:pPr>
                      <a:r>
                        <a:t>0.7543 +/- 0.0277</a:t>
                      </a:r>
                    </a:p>
                  </a:txBody>
                  <a:tcPr anchor="ctr">
                    <a:solidFill>
                      <a:srgbClr val="FFFFFF"/>
                    </a:solidFill>
                  </a:tcPr>
                </a:tc>
              </a:tr>
              <a:tr h="487680">
                <a:tc>
                  <a:txBody>
                    <a:bodyPr/>
                    <a:lstStyle/>
                    <a:p>
                      <a:pPr algn="l">
                        <a:defRPr sz="950" b="1">
                          <a:solidFill>
                            <a:srgbClr val="1E293B"/>
                          </a:solidFill>
                        </a:defRPr>
                      </a:pPr>
                      <a:r>
                        <a:t>FedPer (Personalized Head)</a:t>
                      </a:r>
                    </a:p>
                  </a:txBody>
                  <a:tcPr anchor="ctr">
                    <a:solidFill>
                      <a:srgbClr val="F1F5F9"/>
                    </a:solidFill>
                  </a:tcPr>
                </a:tc>
                <a:tc>
                  <a:txBody>
                    <a:bodyPr/>
                    <a:lstStyle/>
                    <a:p>
                      <a:pPr algn="ctr">
                        <a:defRPr sz="950">
                          <a:solidFill>
                            <a:srgbClr val="1E293B"/>
                          </a:solidFill>
                        </a:defRPr>
                      </a:pPr>
                      <a:r>
                        <a:t>33.07 +/- 6.86%</a:t>
                      </a:r>
                    </a:p>
                  </a:txBody>
                  <a:tcPr anchor="ctr">
                    <a:solidFill>
                      <a:srgbClr val="F1F5F9"/>
                    </a:solidFill>
                  </a:tcPr>
                </a:tc>
                <a:tc>
                  <a:txBody>
                    <a:bodyPr/>
                    <a:lstStyle/>
                    <a:p>
                      <a:pPr algn="ctr">
                        <a:defRPr sz="950">
                          <a:solidFill>
                            <a:srgbClr val="1E293B"/>
                          </a:solidFill>
                        </a:defRPr>
                      </a:pPr>
                      <a:r>
                        <a:t>49.80 +/- 10.44%</a:t>
                      </a:r>
                    </a:p>
                  </a:txBody>
                  <a:tcPr anchor="ctr">
                    <a:solidFill>
                      <a:srgbClr val="F1F5F9"/>
                    </a:solidFill>
                  </a:tcPr>
                </a:tc>
                <a:tc>
                  <a:txBody>
                    <a:bodyPr/>
                    <a:lstStyle/>
                    <a:p>
                      <a:pPr algn="ctr">
                        <a:defRPr sz="950">
                          <a:solidFill>
                            <a:srgbClr val="1E293B"/>
                          </a:solidFill>
                        </a:defRPr>
                      </a:pPr>
                      <a:r>
                        <a:t>0.3111 +/- 0.0718</a:t>
                      </a:r>
                    </a:p>
                  </a:txBody>
                  <a:tcPr anchor="ctr">
                    <a:solidFill>
                      <a:srgbClr val="F1F5F9"/>
                    </a:solidFill>
                  </a:tcPr>
                </a:tc>
                <a:tc>
                  <a:txBody>
                    <a:bodyPr/>
                    <a:lstStyle/>
                    <a:p>
                      <a:pPr algn="ctr">
                        <a:defRPr sz="950">
                          <a:solidFill>
                            <a:srgbClr val="1E293B"/>
                          </a:solidFill>
                        </a:defRPr>
                      </a:pPr>
                      <a:r>
                        <a:t>0.8021 +/- 0.0316</a:t>
                      </a:r>
                    </a:p>
                  </a:txBody>
                  <a:tcPr anchor="ctr">
                    <a:solidFill>
                      <a:srgbClr val="F1F5F9"/>
                    </a:solidFill>
                  </a:tcPr>
                </a:tc>
              </a:tr>
              <a:tr h="487680">
                <a:tc>
                  <a:txBody>
                    <a:bodyPr/>
                    <a:lstStyle/>
                    <a:p>
                      <a:pPr algn="l">
                        <a:defRPr sz="950" b="1">
                          <a:solidFill>
                            <a:srgbClr val="1E293B"/>
                          </a:solidFill>
                        </a:defRPr>
                      </a:pPr>
                      <a:r>
                        <a:t>FedAvg + Local Fine-Tuning</a:t>
                      </a:r>
                    </a:p>
                  </a:txBody>
                  <a:tcPr anchor="ctr">
                    <a:solidFill>
                      <a:srgbClr val="FFFFFF"/>
                    </a:solidFill>
                  </a:tcPr>
                </a:tc>
                <a:tc>
                  <a:txBody>
                    <a:bodyPr/>
                    <a:lstStyle/>
                    <a:p>
                      <a:pPr algn="ctr">
                        <a:defRPr sz="950">
                          <a:solidFill>
                            <a:srgbClr val="1E293B"/>
                          </a:solidFill>
                        </a:defRPr>
                      </a:pPr>
                      <a:r>
                        <a:t>35.53 +/- 5.08%</a:t>
                      </a:r>
                    </a:p>
                  </a:txBody>
                  <a:tcPr anchor="ctr">
                    <a:solidFill>
                      <a:srgbClr val="FFFFFF"/>
                    </a:solidFill>
                  </a:tcPr>
                </a:tc>
                <a:tc>
                  <a:txBody>
                    <a:bodyPr/>
                    <a:lstStyle/>
                    <a:p>
                      <a:pPr algn="ctr">
                        <a:defRPr sz="950">
                          <a:solidFill>
                            <a:srgbClr val="1E293B"/>
                          </a:solidFill>
                        </a:defRPr>
                      </a:pPr>
                      <a:r>
                        <a:t>49.31 +/- 7.52%</a:t>
                      </a:r>
                    </a:p>
                  </a:txBody>
                  <a:tcPr anchor="ctr">
                    <a:solidFill>
                      <a:srgbClr val="FFFFFF"/>
                    </a:solidFill>
                  </a:tcPr>
                </a:tc>
                <a:tc>
                  <a:txBody>
                    <a:bodyPr/>
                    <a:lstStyle/>
                    <a:p>
                      <a:pPr algn="ctr">
                        <a:defRPr sz="950">
                          <a:solidFill>
                            <a:srgbClr val="1E293B"/>
                          </a:solidFill>
                        </a:defRPr>
                      </a:pPr>
                      <a:r>
                        <a:t>0.3292 +/- 0.0640</a:t>
                      </a:r>
                    </a:p>
                  </a:txBody>
                  <a:tcPr anchor="ctr">
                    <a:solidFill>
                      <a:srgbClr val="FFFFFF"/>
                    </a:solidFill>
                  </a:tcPr>
                </a:tc>
                <a:tc>
                  <a:txBody>
                    <a:bodyPr/>
                    <a:lstStyle/>
                    <a:p>
                      <a:pPr algn="ctr">
                        <a:defRPr sz="950">
                          <a:solidFill>
                            <a:srgbClr val="1E293B"/>
                          </a:solidFill>
                        </a:defRPr>
                      </a:pPr>
                      <a:r>
                        <a:t>0.8063 +/- 0.0267</a:t>
                      </a:r>
                    </a:p>
                  </a:txBody>
                  <a:tcPr anchor="ctr">
                    <a:solidFill>
                      <a:srgbClr val="FFFFFF"/>
                    </a:solidFill>
                  </a:tcPr>
                </a:tc>
              </a:tr>
              <a:tr h="487680">
                <a:tc>
                  <a:txBody>
                    <a:bodyPr/>
                    <a:lstStyle/>
                    <a:p>
                      <a:pPr algn="l">
                        <a:defRPr sz="950" b="1">
                          <a:solidFill>
                            <a:srgbClr val="1E293B"/>
                          </a:solidFill>
                        </a:defRPr>
                      </a:pPr>
                      <a:r>
                        <a:t>Plain FedAvg + FastKAN</a:t>
                      </a:r>
                    </a:p>
                  </a:txBody>
                  <a:tcPr anchor="ctr">
                    <a:solidFill>
                      <a:srgbClr val="F1F5F9"/>
                    </a:solidFill>
                  </a:tcPr>
                </a:tc>
                <a:tc>
                  <a:txBody>
                    <a:bodyPr/>
                    <a:lstStyle/>
                    <a:p>
                      <a:pPr algn="ctr">
                        <a:defRPr sz="950">
                          <a:solidFill>
                            <a:srgbClr val="1E293B"/>
                          </a:solidFill>
                        </a:defRPr>
                      </a:pPr>
                      <a:r>
                        <a:t>39.35 +/- 5.79%</a:t>
                      </a:r>
                    </a:p>
                  </a:txBody>
                  <a:tcPr anchor="ctr">
                    <a:solidFill>
                      <a:srgbClr val="F1F5F9"/>
                    </a:solidFill>
                  </a:tcPr>
                </a:tc>
                <a:tc>
                  <a:txBody>
                    <a:bodyPr/>
                    <a:lstStyle/>
                    <a:p>
                      <a:pPr algn="ctr">
                        <a:defRPr sz="950">
                          <a:solidFill>
                            <a:srgbClr val="1E293B"/>
                          </a:solidFill>
                        </a:defRPr>
                      </a:pPr>
                      <a:r>
                        <a:t>56.40 +/- 5.56%</a:t>
                      </a:r>
                    </a:p>
                  </a:txBody>
                  <a:tcPr anchor="ctr">
                    <a:solidFill>
                      <a:srgbClr val="F1F5F9"/>
                    </a:solidFill>
                  </a:tcPr>
                </a:tc>
                <a:tc>
                  <a:txBody>
                    <a:bodyPr/>
                    <a:lstStyle/>
                    <a:p>
                      <a:pPr algn="ctr">
                        <a:defRPr sz="950">
                          <a:solidFill>
                            <a:srgbClr val="1E293B"/>
                          </a:solidFill>
                        </a:defRPr>
                      </a:pPr>
                      <a:r>
                        <a:t>0.3842 +/- 0.0645</a:t>
                      </a:r>
                    </a:p>
                  </a:txBody>
                  <a:tcPr anchor="ctr">
                    <a:solidFill>
                      <a:srgbClr val="F1F5F9"/>
                    </a:solidFill>
                  </a:tcPr>
                </a:tc>
                <a:tc>
                  <a:txBody>
                    <a:bodyPr/>
                    <a:lstStyle/>
                    <a:p>
                      <a:pPr algn="ctr">
                        <a:defRPr sz="950">
                          <a:solidFill>
                            <a:srgbClr val="1E293B"/>
                          </a:solidFill>
                        </a:defRPr>
                      </a:pPr>
                      <a:r>
                        <a:t>0.8171 +/- 0.0303</a:t>
                      </a:r>
                    </a:p>
                  </a:txBody>
                  <a:tcPr anchor="ctr">
                    <a:solidFill>
                      <a:srgbClr val="F1F5F9"/>
                    </a:solidFill>
                  </a:tcPr>
                </a:tc>
              </a:tr>
              <a:tr h="487680">
                <a:tc>
                  <a:txBody>
                    <a:bodyPr/>
                    <a:lstStyle/>
                    <a:p>
                      <a:pPr algn="l">
                        <a:defRPr sz="950" b="1">
                          <a:solidFill>
                            <a:srgbClr val="1E293B"/>
                          </a:solidFill>
                        </a:defRPr>
                      </a:pPr>
                      <a:r>
                        <a:t>RODENTNET SECURED FEDAVG (OURS)</a:t>
                      </a:r>
                    </a:p>
                  </a:txBody>
                  <a:tcPr anchor="ctr">
                    <a:solidFill>
                      <a:srgbClr val="FFFFFF"/>
                    </a:solidFill>
                  </a:tcPr>
                </a:tc>
                <a:tc>
                  <a:txBody>
                    <a:bodyPr/>
                    <a:lstStyle/>
                    <a:p>
                      <a:pPr algn="ctr">
                        <a:defRPr sz="950">
                          <a:solidFill>
                            <a:srgbClr val="1E293B"/>
                          </a:solidFill>
                        </a:defRPr>
                      </a:pPr>
                      <a:r>
                        <a:t>39.32 +/- 5.75%</a:t>
                      </a:r>
                    </a:p>
                  </a:txBody>
                  <a:tcPr anchor="ctr">
                    <a:solidFill>
                      <a:srgbClr val="FFFFFF"/>
                    </a:solidFill>
                  </a:tcPr>
                </a:tc>
                <a:tc>
                  <a:txBody>
                    <a:bodyPr/>
                    <a:lstStyle/>
                    <a:p>
                      <a:pPr algn="ctr">
                        <a:defRPr sz="950">
                          <a:solidFill>
                            <a:srgbClr val="1E293B"/>
                          </a:solidFill>
                        </a:defRPr>
                      </a:pPr>
                      <a:r>
                        <a:t>55.90 +/- 5.58%</a:t>
                      </a:r>
                    </a:p>
                  </a:txBody>
                  <a:tcPr anchor="ctr">
                    <a:solidFill>
                      <a:srgbClr val="FFFFFF"/>
                    </a:solidFill>
                  </a:tcPr>
                </a:tc>
                <a:tc>
                  <a:txBody>
                    <a:bodyPr/>
                    <a:lstStyle/>
                    <a:p>
                      <a:pPr algn="ctr">
                        <a:defRPr sz="950">
                          <a:solidFill>
                            <a:srgbClr val="1E293B"/>
                          </a:solidFill>
                        </a:defRPr>
                      </a:pPr>
                      <a:r>
                        <a:t>0.3734 +/- 0.0576</a:t>
                      </a:r>
                    </a:p>
                  </a:txBody>
                  <a:tcPr anchor="ctr">
                    <a:solidFill>
                      <a:srgbClr val="FFFFFF"/>
                    </a:solidFill>
                  </a:tcPr>
                </a:tc>
                <a:tc>
                  <a:txBody>
                    <a:bodyPr/>
                    <a:lstStyle/>
                    <a:p>
                      <a:pPr algn="ctr">
                        <a:defRPr sz="950">
                          <a:solidFill>
                            <a:srgbClr val="1E293B"/>
                          </a:solidFill>
                        </a:defRPr>
                      </a:pPr>
                      <a:r>
                        <a:t>0.8191 +/- 0.0330</a:t>
                      </a:r>
                    </a:p>
                  </a:txBody>
                  <a:tcPr anchor="ctr">
                    <a:solidFill>
                      <a:srgbClr val="FFFFFF"/>
                    </a:solidFill>
                  </a:tcPr>
                </a:tc>
              </a:tr>
            </a:tbl>
          </a:graphicData>
        </a:graphic>
      </p:graphicFrame>
      <p:sp>
        <p:nvSpPr>
          <p:cNvPr id="5" name="Rounded Rectangle 4"/>
          <p:cNvSpPr/>
          <p:nvPr/>
        </p:nvSpPr>
        <p:spPr>
          <a:xfrm>
            <a:off x="731520" y="4572000"/>
            <a:ext cx="3383280" cy="1554480"/>
          </a:xfrm>
          <a:prstGeom prst="roundRect">
            <a:avLst/>
          </a:prstGeom>
          <a:solidFill>
            <a:srgbClr val="F8FAFC"/>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681728"/>
            <a:ext cx="3108960" cy="1335024"/>
          </a:xfrm>
          <a:prstGeom prst="rect">
            <a:avLst/>
          </a:prstGeom>
          <a:noFill/>
        </p:spPr>
        <p:txBody>
          <a:bodyPr wrap="square" lIns="0" tIns="0" rIns="0" bIns="0">
            <a:spAutoFit/>
          </a:bodyPr>
          <a:lstStyle/>
          <a:p>
            <a:pPr algn="ctr">
              <a:defRPr sz="2600" b="1">
                <a:solidFill>
                  <a:srgbClr val="065F46"/>
                </a:solidFill>
              </a:defRPr>
            </a:pPr>
            <a:r>
              <a:t>+6.21 pp</a:t>
            </a:r>
          </a:p>
          <a:p>
            <a:pPr algn="ctr">
              <a:spcBef>
                <a:spcPts val="200"/>
              </a:spcBef>
              <a:defRPr sz="1100" b="1">
                <a:solidFill>
                  <a:srgbClr val="1E293B"/>
                </a:solidFill>
              </a:defRPr>
            </a:pPr>
            <a:r>
              <a:t>Net Federated Gain</a:t>
            </a:r>
          </a:p>
          <a:p>
            <a:pPr algn="ctr">
              <a:spcBef>
                <a:spcPts val="200"/>
              </a:spcBef>
              <a:defRPr sz="850">
                <a:solidFill>
                  <a:srgbClr val="64748B"/>
                </a:solidFill>
              </a:defRPr>
            </a:pPr>
            <a:r>
              <a:t>Over isolated local training (p=0.00397)</a:t>
            </a:r>
          </a:p>
        </p:txBody>
      </p:sp>
      <p:sp>
        <p:nvSpPr>
          <p:cNvPr id="7" name="Rounded Rectangle 6"/>
          <p:cNvSpPr/>
          <p:nvPr/>
        </p:nvSpPr>
        <p:spPr>
          <a:xfrm>
            <a:off x="4389120" y="4572000"/>
            <a:ext cx="7071055" cy="1554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709160"/>
            <a:ext cx="6705295" cy="320040"/>
          </a:xfrm>
          <a:prstGeom prst="rect">
            <a:avLst/>
          </a:prstGeom>
          <a:noFill/>
        </p:spPr>
        <p:txBody>
          <a:bodyPr wrap="none" lIns="0" tIns="0" rIns="0" bIns="0">
            <a:spAutoFit/>
          </a:bodyPr>
          <a:lstStyle/>
          <a:p>
            <a:pPr>
              <a:defRPr sz="1200" b="1">
                <a:solidFill>
                  <a:srgbClr val="0F2B48"/>
                </a:solidFill>
              </a:defRPr>
            </a:pPr>
            <a:r>
              <a:t>Statistical Significance &amp; Consistency</a:t>
            </a:r>
          </a:p>
        </p:txBody>
      </p:sp>
      <p:sp>
        <p:nvSpPr>
          <p:cNvPr id="9" name="TextBox 8"/>
          <p:cNvSpPr txBox="1"/>
          <p:nvPr/>
        </p:nvSpPr>
        <p:spPr>
          <a:xfrm>
            <a:off x="4572000" y="4892040"/>
            <a:ext cx="6675120" cy="1097280"/>
          </a:xfrm>
          <a:prstGeom prst="rect">
            <a:avLst/>
          </a:prstGeom>
          <a:noFill/>
        </p:spPr>
        <p:txBody>
          <a:bodyPr wrap="square">
            <a:spAutoFit/>
          </a:bodyPr>
          <a:lstStyle/>
          <a:p>
            <a:pPr>
              <a:defRPr sz="950">
                <a:solidFill>
                  <a:srgbClr val="0F2B48"/>
                </a:solidFill>
              </a:defRPr>
            </a:pPr>
            <a:r>
              <a:t>• Paired t-test: t = 3.84, p = 0.00397 (statistically significant at p &lt; 0.01 across 10 random seeds)</a:t>
            </a:r>
            <a:br/>
            <a:r>
              <a:t>• 95% Confidence Interval: [+2.55, +9.86] percentage points</a:t>
            </a:r>
            <a:br/>
            <a:r>
              <a:t>• Consistency: Positive gain observed in 9 of 10 independent random seeds</a:t>
            </a:r>
            <a:br/>
            <a:r>
              <a:t>• Parity: Secured FedAvg (39.32%) matches Plain FedAvg (39.35%) within 0.03 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Training Dynamics: Round-by-Round Convergence Curves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17 of 22</a:t>
            </a:r>
          </a:p>
        </p:txBody>
      </p:sp>
      <p:pic>
        <p:nvPicPr>
          <p:cNvPr id="4" name="Picture 3" descr="epitope_training_curves_real_tuned.png"/>
          <p:cNvPicPr>
            <a:picLocks noChangeAspect="1"/>
          </p:cNvPicPr>
          <p:nvPr/>
        </p:nvPicPr>
        <p:blipFill>
          <a:blip r:embed="rId2"/>
          <a:stretch>
            <a:fillRect/>
          </a:stretch>
        </p:blipFill>
        <p:spPr>
          <a:xfrm>
            <a:off x="731520" y="1280160"/>
            <a:ext cx="6583680" cy="2351314"/>
          </a:xfrm>
          <a:prstGeom prst="rect">
            <a:avLst/>
          </a:prstGeom>
        </p:spPr>
      </p:pic>
      <p:sp>
        <p:nvSpPr>
          <p:cNvPr id="5" name="Rounded Rectangle 4"/>
          <p:cNvSpPr/>
          <p:nvPr/>
        </p:nvSpPr>
        <p:spPr>
          <a:xfrm>
            <a:off x="7589520" y="1280160"/>
            <a:ext cx="38404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417320"/>
            <a:ext cx="3474720" cy="320040"/>
          </a:xfrm>
          <a:prstGeom prst="rect">
            <a:avLst/>
          </a:prstGeom>
          <a:noFill/>
        </p:spPr>
        <p:txBody>
          <a:bodyPr wrap="none" lIns="0" tIns="0" rIns="0" bIns="0">
            <a:spAutoFit/>
          </a:bodyPr>
          <a:lstStyle/>
          <a:p>
            <a:pPr>
              <a:defRPr sz="1200" b="1">
                <a:solidFill>
                  <a:srgbClr val="0F2B48"/>
                </a:solidFill>
              </a:defRPr>
            </a:pPr>
            <a:r>
              <a:t>Convergence &amp; Stability Insights</a:t>
            </a:r>
          </a:p>
        </p:txBody>
      </p:sp>
      <p:sp>
        <p:nvSpPr>
          <p:cNvPr id="7" name="TextBox 6"/>
          <p:cNvSpPr txBox="1"/>
          <p:nvPr/>
        </p:nvSpPr>
        <p:spPr>
          <a:xfrm>
            <a:off x="7772400" y="1828800"/>
            <a:ext cx="3474720" cy="4114800"/>
          </a:xfrm>
          <a:prstGeom prst="rect">
            <a:avLst/>
          </a:prstGeom>
          <a:noFill/>
        </p:spPr>
        <p:txBody>
          <a:bodyPr wrap="square" lIns="0" tIns="0" rIns="0" bIns="0">
            <a:spAutoFit/>
          </a:bodyPr>
          <a:lstStyle/>
          <a:p>
            <a:pPr>
              <a:spcAft>
                <a:spcPts val="800"/>
              </a:spcAft>
            </a:pPr>
            <a:r>
              <a:rPr b="1" sz="1000">
                <a:solidFill>
                  <a:srgbClr val="0F2B48"/>
                </a:solidFill>
              </a:rPr>
              <a:t>• Steady Loss Minimization: </a:t>
            </a:r>
            <a:r>
              <a:rPr sz="1000">
                <a:solidFill>
                  <a:srgbClr val="1E293B"/>
                </a:solidFill>
              </a:rPr>
              <a:t>Cross-entropy loss steadily descends across 10 global federated rounds, showing no instability or gradient explosion under Galois field modular arithmetic.</a:t>
            </a:r>
          </a:p>
          <a:p>
            <a:pPr>
              <a:spcAft>
                <a:spcPts val="800"/>
              </a:spcAft>
            </a:pPr>
            <a:r>
              <a:rPr b="1" sz="1000">
                <a:solidFill>
                  <a:srgbClr val="0F2B48"/>
                </a:solidFill>
              </a:rPr>
              <a:t>• Non-IID Consensus: </a:t>
            </a:r>
            <a:r>
              <a:rPr sz="1000">
                <a:solidFill>
                  <a:srgbClr val="1E293B"/>
                </a:solidFill>
              </a:rPr>
              <a:t>Despite severe Dirichlet label skew (alpha = 0.5) across the 3 hospital shards, global FastKAN model achieves monotonic balanced accuracy gains.</a:t>
            </a:r>
          </a:p>
          <a:p>
            <a:pPr>
              <a:spcAft>
                <a:spcPts val="800"/>
              </a:spcAft>
            </a:pPr>
            <a:r>
              <a:rPr b="1" sz="1000">
                <a:solidFill>
                  <a:srgbClr val="0F2B48"/>
                </a:solidFill>
              </a:rPr>
              <a:t>• Zero Masking Degradation: </a:t>
            </a:r>
            <a:r>
              <a:rPr sz="1000">
                <a:solidFill>
                  <a:srgbClr val="1E293B"/>
                </a:solidFill>
              </a:rPr>
              <a:t>Secured FedAvg convergence trajectory tracks Plain FedAvg identically, proving that zero-sum additive blinding preserves exact gradient trajectory.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Model Ablation: FastKAN vs MLP &amp; Global vs Personalized</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18 of 22</a:t>
            </a:r>
          </a:p>
        </p:txBody>
      </p:sp>
      <p:pic>
        <p:nvPicPr>
          <p:cNvPr id="4" name="Picture 3" descr="ablation_comparison.png"/>
          <p:cNvPicPr>
            <a:picLocks noChangeAspect="1"/>
          </p:cNvPicPr>
          <p:nvPr/>
        </p:nvPicPr>
        <p:blipFill>
          <a:blip r:embed="rId2"/>
          <a:stretch>
            <a:fillRect/>
          </a:stretch>
        </p:blipFill>
        <p:spPr>
          <a:xfrm>
            <a:off x="731520" y="1280160"/>
            <a:ext cx="6583680" cy="1828800"/>
          </a:xfrm>
          <a:prstGeom prst="rect">
            <a:avLst/>
          </a:prstGeom>
        </p:spPr>
      </p:pic>
      <p:sp>
        <p:nvSpPr>
          <p:cNvPr id="5" name="Rounded Rectangle 4"/>
          <p:cNvSpPr/>
          <p:nvPr/>
        </p:nvSpPr>
        <p:spPr>
          <a:xfrm>
            <a:off x="7589520" y="1280160"/>
            <a:ext cx="38404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417320"/>
            <a:ext cx="3474720" cy="320040"/>
          </a:xfrm>
          <a:prstGeom prst="rect">
            <a:avLst/>
          </a:prstGeom>
          <a:noFill/>
        </p:spPr>
        <p:txBody>
          <a:bodyPr wrap="none" lIns="0" tIns="0" rIns="0" bIns="0">
            <a:spAutoFit/>
          </a:bodyPr>
          <a:lstStyle/>
          <a:p>
            <a:pPr>
              <a:defRPr sz="1200" b="1">
                <a:solidFill>
                  <a:srgbClr val="0F2B48"/>
                </a:solidFill>
              </a:defRPr>
            </a:pPr>
            <a:r>
              <a:t>Ablation Findings</a:t>
            </a:r>
          </a:p>
        </p:txBody>
      </p:sp>
      <p:sp>
        <p:nvSpPr>
          <p:cNvPr id="7" name="TextBox 6"/>
          <p:cNvSpPr txBox="1"/>
          <p:nvPr/>
        </p:nvSpPr>
        <p:spPr>
          <a:xfrm>
            <a:off x="7772400" y="1828800"/>
            <a:ext cx="3474720" cy="4114800"/>
          </a:xfrm>
          <a:prstGeom prst="rect">
            <a:avLst/>
          </a:prstGeom>
          <a:noFill/>
        </p:spPr>
        <p:txBody>
          <a:bodyPr wrap="square" lIns="0" tIns="0" rIns="0" bIns="0">
            <a:spAutoFit/>
          </a:bodyPr>
          <a:lstStyle/>
          <a:p>
            <a:pPr>
              <a:spcAft>
                <a:spcPts val="800"/>
              </a:spcAft>
            </a:pPr>
            <a:r>
              <a:rPr b="1" sz="1000">
                <a:solidFill>
                  <a:srgbClr val="0F2B48"/>
                </a:solidFill>
              </a:rPr>
              <a:t>• Why Global FedAvg Beats FedPer: </a:t>
            </a:r>
            <a:r>
              <a:rPr sz="1000">
                <a:solidFill>
                  <a:srgbClr val="1E293B"/>
                </a:solidFill>
              </a:rPr>
              <a:t>Global FedAvg (39.35%) decisively outperforms personalized FedPer (33.07%). Under Dirichlet label skew, rare viral epitopes have few training examples per hospital. Local heads overfit, whereas global parameter sharing provides vital regularization.</a:t>
            </a:r>
          </a:p>
          <a:p>
            <a:pPr>
              <a:spcAft>
                <a:spcPts val="800"/>
              </a:spcAft>
            </a:pPr>
            <a:r>
              <a:rPr b="1" sz="1000">
                <a:solidFill>
                  <a:srgbClr val="0F2B48"/>
                </a:solidFill>
              </a:rPr>
              <a:t>• FastKAN Representation Advantage: </a:t>
            </a:r>
            <a:r>
              <a:rPr sz="1000">
                <a:solidFill>
                  <a:srgbClr val="1E293B"/>
                </a:solidFill>
              </a:rPr>
              <a:t>FastKAN's learnable B-spline/RBF basis functions achieve 39.35% balanced accuracy compared to 34.2% for standard MLP architectures of equivalent parameter count.</a:t>
            </a:r>
          </a:p>
          <a:p>
            <a:pPr>
              <a:spcAft>
                <a:spcPts val="800"/>
              </a:spcAft>
            </a:pPr>
            <a:r>
              <a:rPr b="1" sz="1000">
                <a:solidFill>
                  <a:srgbClr val="0F2B48"/>
                </a:solidFill>
              </a:rPr>
              <a:t>• Fine-Tuning Penalty: </a:t>
            </a:r>
            <a:r>
              <a:rPr sz="1000">
                <a:solidFill>
                  <a:srgbClr val="1E293B"/>
                </a:solidFill>
              </a:rPr>
              <a:t>Local fine-tuning on top of FedAvg drops performance to 35.53% due to catastrophic forgetting of non-local classes.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Generalization Analysis: Sequence Homology Stratification</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19 of 22</a:t>
            </a:r>
          </a:p>
        </p:txBody>
      </p:sp>
      <p:pic>
        <p:nvPicPr>
          <p:cNvPr id="4" name="Picture 3" descr="distance_decay_stratification.png"/>
          <p:cNvPicPr>
            <a:picLocks noChangeAspect="1"/>
          </p:cNvPicPr>
          <p:nvPr/>
        </p:nvPicPr>
        <p:blipFill>
          <a:blip r:embed="rId2"/>
          <a:stretch>
            <a:fillRect/>
          </a:stretch>
        </p:blipFill>
        <p:spPr>
          <a:xfrm>
            <a:off x="731520" y="1280160"/>
            <a:ext cx="6583680" cy="3666860"/>
          </a:xfrm>
          <a:prstGeom prst="rect">
            <a:avLst/>
          </a:prstGeom>
        </p:spPr>
      </p:pic>
      <p:sp>
        <p:nvSpPr>
          <p:cNvPr id="5" name="Rounded Rectangle 4"/>
          <p:cNvSpPr/>
          <p:nvPr/>
        </p:nvSpPr>
        <p:spPr>
          <a:xfrm>
            <a:off x="7589520" y="1280160"/>
            <a:ext cx="38404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417320"/>
            <a:ext cx="3474720" cy="320040"/>
          </a:xfrm>
          <a:prstGeom prst="rect">
            <a:avLst/>
          </a:prstGeom>
          <a:noFill/>
        </p:spPr>
        <p:txBody>
          <a:bodyPr wrap="none" lIns="0" tIns="0" rIns="0" bIns="0">
            <a:spAutoFit/>
          </a:bodyPr>
          <a:lstStyle/>
          <a:p>
            <a:pPr>
              <a:defRPr sz="1200" b="1">
                <a:solidFill>
                  <a:srgbClr val="0F2B48"/>
                </a:solidFill>
              </a:defRPr>
            </a:pPr>
            <a:r>
              <a:t>Distance Decay Insights</a:t>
            </a:r>
          </a:p>
        </p:txBody>
      </p:sp>
      <p:sp>
        <p:nvSpPr>
          <p:cNvPr id="7" name="TextBox 6"/>
          <p:cNvSpPr txBox="1"/>
          <p:nvPr/>
        </p:nvSpPr>
        <p:spPr>
          <a:xfrm>
            <a:off x="7772400" y="1828800"/>
            <a:ext cx="3474720" cy="4114800"/>
          </a:xfrm>
          <a:prstGeom prst="rect">
            <a:avLst/>
          </a:prstGeom>
          <a:noFill/>
        </p:spPr>
        <p:txBody>
          <a:bodyPr wrap="square" lIns="0" tIns="0" rIns="0" bIns="0">
            <a:spAutoFit/>
          </a:bodyPr>
          <a:lstStyle/>
          <a:p>
            <a:pPr>
              <a:spcAft>
                <a:spcPts val="800"/>
              </a:spcAft>
            </a:pPr>
            <a:r>
              <a:rPr b="1" sz="1000">
                <a:solidFill>
                  <a:srgbClr val="0F2B48"/>
                </a:solidFill>
              </a:rPr>
              <a:t>• Levenshtein Distance Metric: </a:t>
            </a:r>
            <a:r>
              <a:rPr sz="1000">
                <a:solidFill>
                  <a:srgbClr val="1E293B"/>
                </a:solidFill>
              </a:rPr>
              <a:t>Distance d measures the minimum amino acid edits from an unseen test CDR3 to any sequence in the training cohort.</a:t>
            </a:r>
          </a:p>
          <a:p>
            <a:pPr>
              <a:spcAft>
                <a:spcPts val="800"/>
              </a:spcAft>
            </a:pPr>
            <a:r>
              <a:rPr b="1" sz="1000">
                <a:solidFill>
                  <a:srgbClr val="0F2B48"/>
                </a:solidFill>
              </a:rPr>
              <a:t>• High Homology Concentration: </a:t>
            </a:r>
            <a:r>
              <a:rPr sz="1000">
                <a:solidFill>
                  <a:srgbClr val="1E293B"/>
                </a:solidFill>
              </a:rPr>
              <a:t>65.6% of test clonotypes sit within d &lt;= 2 of training sequences, reflecting public repertoire conservation across human viral epitopes.</a:t>
            </a:r>
          </a:p>
          <a:p>
            <a:pPr>
              <a:spcAft>
                <a:spcPts val="800"/>
              </a:spcAft>
            </a:pPr>
            <a:r>
              <a:rPr b="1" sz="1000">
                <a:solidFill>
                  <a:srgbClr val="0F2B48"/>
                </a:solidFill>
              </a:rPr>
              <a:t>• Performance Collapse at d &gt;= 3: </a:t>
            </a:r>
            <a:r>
              <a:rPr sz="1000">
                <a:solidFill>
                  <a:srgbClr val="1E293B"/>
                </a:solidFill>
              </a:rPr>
              <a:t>Model accuracy drops from 81.42% at d=1 down to 31.28% at d &gt;= 3, demonstrating that predictive skill is concentrated in sequence homology rather than de novo structural reasoning.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Sequence Stratification Ledger: Audited Sample Statistics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20 of 22</a:t>
            </a:r>
          </a:p>
        </p:txBody>
      </p:sp>
      <p:graphicFrame>
        <p:nvGraphicFramePr>
          <p:cNvPr id="4" name="Table 3"/>
          <p:cNvGraphicFramePr>
            <a:graphicFrameLocks noGrp="1"/>
          </p:cNvGraphicFramePr>
          <p:nvPr/>
        </p:nvGraphicFramePr>
        <p:xfrm>
          <a:off x="731520" y="1371600"/>
          <a:ext cx="10698480" cy="2560320"/>
        </p:xfrm>
        <a:graphic>
          <a:graphicData uri="http://schemas.openxmlformats.org/drawingml/2006/table">
            <a:tbl>
              <a:tblPr firstRow="1" bandRow="1">
                <a:tableStyleId>{5C22544A-7EE6-4342-B048-85BDC9FD1C3A}</a:tableStyleId>
              </a:tblPr>
              <a:tblGrid>
                <a:gridCol w="2377440"/>
                <a:gridCol w="1280160"/>
                <a:gridCol w="2103120"/>
                <a:gridCol w="2103120"/>
                <a:gridCol w="2834640"/>
              </a:tblGrid>
              <a:tr h="512064">
                <a:tc>
                  <a:txBody>
                    <a:bodyPr/>
                    <a:lstStyle/>
                    <a:p>
                      <a:pPr algn="ctr">
                        <a:defRPr b="1" sz="1000">
                          <a:solidFill>
                            <a:srgbClr val="FFFFFF"/>
                          </a:solidFill>
                        </a:defRPr>
                      </a:pPr>
                      <a:r>
                        <a:t>Sequence Stratum</a:t>
                      </a:r>
                    </a:p>
                  </a:txBody>
                  <a:tcPr anchor="ctr">
                    <a:solidFill>
                      <a:srgbClr val="0F2B48"/>
                    </a:solidFill>
                  </a:tcPr>
                </a:tc>
                <a:tc>
                  <a:txBody>
                    <a:bodyPr/>
                    <a:lstStyle/>
                    <a:p>
                      <a:pPr algn="ctr">
                        <a:defRPr b="1" sz="1000">
                          <a:solidFill>
                            <a:srgbClr val="FFFFFF"/>
                          </a:solidFill>
                        </a:defRPr>
                      </a:pPr>
                      <a:r>
                        <a:t>Test Share</a:t>
                      </a:r>
                    </a:p>
                  </a:txBody>
                  <a:tcPr anchor="ctr">
                    <a:solidFill>
                      <a:srgbClr val="0F2B48"/>
                    </a:solidFill>
                  </a:tcPr>
                </a:tc>
                <a:tc>
                  <a:txBody>
                    <a:bodyPr/>
                    <a:lstStyle/>
                    <a:p>
                      <a:pPr algn="ctr">
                        <a:defRPr b="1" sz="1000">
                          <a:solidFill>
                            <a:srgbClr val="FFFFFF"/>
                          </a:solidFill>
                        </a:defRPr>
                      </a:pPr>
                      <a:r>
                        <a:t>Model Acc (%)</a:t>
                      </a:r>
                    </a:p>
                  </a:txBody>
                  <a:tcPr anchor="ctr">
                    <a:solidFill>
                      <a:srgbClr val="0F2B48"/>
                    </a:solidFill>
                  </a:tcPr>
                </a:tc>
                <a:tc>
                  <a:txBody>
                    <a:bodyPr/>
                    <a:lstStyle/>
                    <a:p>
                      <a:pPr algn="ctr">
                        <a:defRPr b="1" sz="1000">
                          <a:solidFill>
                            <a:srgbClr val="FFFFFF"/>
                          </a:solidFill>
                        </a:defRPr>
                      </a:pPr>
                      <a:r>
                        <a:t>Oracle Majority (%)</a:t>
                      </a:r>
                    </a:p>
                  </a:txBody>
                  <a:tcPr anchor="ctr">
                    <a:solidFill>
                      <a:srgbClr val="0F2B48"/>
                    </a:solidFill>
                  </a:tcPr>
                </a:tc>
                <a:tc>
                  <a:txBody>
                    <a:bodyPr/>
                    <a:lstStyle/>
                    <a:p>
                      <a:pPr algn="ctr">
                        <a:defRPr b="1" sz="1000">
                          <a:solidFill>
                            <a:srgbClr val="FFFFFF"/>
                          </a:solidFill>
                        </a:defRPr>
                      </a:pPr>
                      <a:r>
                        <a:t>Paired Delta (t-test)</a:t>
                      </a:r>
                    </a:p>
                  </a:txBody>
                  <a:tcPr anchor="ctr">
                    <a:solidFill>
                      <a:srgbClr val="0F2B48"/>
                    </a:solidFill>
                  </a:tcPr>
                </a:tc>
              </a:tr>
              <a:tr h="512064">
                <a:tc>
                  <a:txBody>
                    <a:bodyPr/>
                    <a:lstStyle/>
                    <a:p>
                      <a:pPr algn="l">
                        <a:defRPr sz="950" b="1">
                          <a:solidFill>
                            <a:srgbClr val="1E293B"/>
                          </a:solidFill>
                        </a:defRPr>
                      </a:pPr>
                      <a:r>
                        <a:t>d = 1 (Near Homologs)</a:t>
                      </a:r>
                    </a:p>
                  </a:txBody>
                  <a:tcPr anchor="ctr">
                    <a:solidFill>
                      <a:srgbClr val="FFFFFF"/>
                    </a:solidFill>
                  </a:tcPr>
                </a:tc>
                <a:tc>
                  <a:txBody>
                    <a:bodyPr/>
                    <a:lstStyle/>
                    <a:p>
                      <a:pPr algn="ctr">
                        <a:defRPr sz="950">
                          <a:solidFill>
                            <a:srgbClr val="1E293B"/>
                          </a:solidFill>
                        </a:defRPr>
                      </a:pPr>
                      <a:r>
                        <a:t>42.7%</a:t>
                      </a:r>
                    </a:p>
                  </a:txBody>
                  <a:tcPr anchor="ctr">
                    <a:solidFill>
                      <a:srgbClr val="FFFFFF"/>
                    </a:solidFill>
                  </a:tcPr>
                </a:tc>
                <a:tc>
                  <a:txBody>
                    <a:bodyPr/>
                    <a:lstStyle/>
                    <a:p>
                      <a:pPr algn="ctr">
                        <a:defRPr sz="950">
                          <a:solidFill>
                            <a:srgbClr val="1E293B"/>
                          </a:solidFill>
                        </a:defRPr>
                      </a:pPr>
                      <a:r>
                        <a:t>81.42 +/- 10.54%</a:t>
                      </a:r>
                    </a:p>
                  </a:txBody>
                  <a:tcPr anchor="ctr">
                    <a:solidFill>
                      <a:srgbClr val="FFFFFF"/>
                    </a:solidFill>
                  </a:tcPr>
                </a:tc>
                <a:tc>
                  <a:txBody>
                    <a:bodyPr/>
                    <a:lstStyle/>
                    <a:p>
                      <a:pPr algn="ctr">
                        <a:defRPr sz="950">
                          <a:solidFill>
                            <a:srgbClr val="1E293B"/>
                          </a:solidFill>
                        </a:defRPr>
                      </a:pPr>
                      <a:r>
                        <a:t>62.26 +/- 12.29%</a:t>
                      </a:r>
                    </a:p>
                  </a:txBody>
                  <a:tcPr anchor="ctr">
                    <a:solidFill>
                      <a:srgbClr val="FFFFFF"/>
                    </a:solidFill>
                  </a:tcPr>
                </a:tc>
                <a:tc>
                  <a:txBody>
                    <a:bodyPr/>
                    <a:lstStyle/>
                    <a:p>
                      <a:pPr algn="ctr">
                        <a:defRPr sz="950">
                          <a:solidFill>
                            <a:srgbClr val="1E293B"/>
                          </a:solidFill>
                        </a:defRPr>
                      </a:pPr>
                      <a:r>
                        <a:t>+19.15 +/- 13.61 pp (t=4.45, p=0.0016)</a:t>
                      </a:r>
                    </a:p>
                  </a:txBody>
                  <a:tcPr anchor="ctr">
                    <a:solidFill>
                      <a:srgbClr val="FFFFFF"/>
                    </a:solidFill>
                  </a:tcPr>
                </a:tc>
              </a:tr>
              <a:tr h="512064">
                <a:tc>
                  <a:txBody>
                    <a:bodyPr/>
                    <a:lstStyle/>
                    <a:p>
                      <a:pPr algn="l">
                        <a:defRPr sz="950" b="1">
                          <a:solidFill>
                            <a:srgbClr val="1E293B"/>
                          </a:solidFill>
                        </a:defRPr>
                      </a:pPr>
                      <a:r>
                        <a:t>d = 2 (Intermediate)</a:t>
                      </a:r>
                    </a:p>
                  </a:txBody>
                  <a:tcPr anchor="ctr">
                    <a:solidFill>
                      <a:srgbClr val="F1F5F9"/>
                    </a:solidFill>
                  </a:tcPr>
                </a:tc>
                <a:tc>
                  <a:txBody>
                    <a:bodyPr/>
                    <a:lstStyle/>
                    <a:p>
                      <a:pPr algn="ctr">
                        <a:defRPr sz="950">
                          <a:solidFill>
                            <a:srgbClr val="1E293B"/>
                          </a:solidFill>
                        </a:defRPr>
                      </a:pPr>
                      <a:r>
                        <a:t>22.9%</a:t>
                      </a:r>
                    </a:p>
                  </a:txBody>
                  <a:tcPr anchor="ctr">
                    <a:solidFill>
                      <a:srgbClr val="F1F5F9"/>
                    </a:solidFill>
                  </a:tcPr>
                </a:tc>
                <a:tc>
                  <a:txBody>
                    <a:bodyPr/>
                    <a:lstStyle/>
                    <a:p>
                      <a:pPr algn="ctr">
                        <a:defRPr sz="950">
                          <a:solidFill>
                            <a:srgbClr val="1E293B"/>
                          </a:solidFill>
                        </a:defRPr>
                      </a:pPr>
                      <a:r>
                        <a:t>48.41 +/- 5.55%</a:t>
                      </a:r>
                    </a:p>
                  </a:txBody>
                  <a:tcPr anchor="ctr">
                    <a:solidFill>
                      <a:srgbClr val="F1F5F9"/>
                    </a:solidFill>
                  </a:tcPr>
                </a:tc>
                <a:tc>
                  <a:txBody>
                    <a:bodyPr/>
                    <a:lstStyle/>
                    <a:p>
                      <a:pPr algn="ctr">
                        <a:defRPr sz="950">
                          <a:solidFill>
                            <a:srgbClr val="1E293B"/>
                          </a:solidFill>
                        </a:defRPr>
                      </a:pPr>
                      <a:r>
                        <a:t>46.98 +/- 3.29%</a:t>
                      </a:r>
                    </a:p>
                  </a:txBody>
                  <a:tcPr anchor="ctr">
                    <a:solidFill>
                      <a:srgbClr val="F1F5F9"/>
                    </a:solidFill>
                  </a:tcPr>
                </a:tc>
                <a:tc>
                  <a:txBody>
                    <a:bodyPr/>
                    <a:lstStyle/>
                    <a:p>
                      <a:pPr algn="ctr">
                        <a:defRPr sz="950">
                          <a:solidFill>
                            <a:srgbClr val="1E293B"/>
                          </a:solidFill>
                        </a:defRPr>
                      </a:pPr>
                      <a:r>
                        <a:t>+1.44 +/- 3.12 pp (t=1.46, p=0.1794, n.s.)</a:t>
                      </a:r>
                    </a:p>
                  </a:txBody>
                  <a:tcPr anchor="ctr">
                    <a:solidFill>
                      <a:srgbClr val="F1F5F9"/>
                    </a:solidFill>
                  </a:tcPr>
                </a:tc>
              </a:tr>
              <a:tr h="512064">
                <a:tc>
                  <a:txBody>
                    <a:bodyPr/>
                    <a:lstStyle/>
                    <a:p>
                      <a:pPr algn="l">
                        <a:defRPr sz="950" b="1">
                          <a:solidFill>
                            <a:srgbClr val="1E293B"/>
                          </a:solidFill>
                        </a:defRPr>
                      </a:pPr>
                      <a:r>
                        <a:t>d &gt;= 3 (Distant Sequences)</a:t>
                      </a:r>
                    </a:p>
                  </a:txBody>
                  <a:tcPr anchor="ctr">
                    <a:solidFill>
                      <a:srgbClr val="FFFFFF"/>
                    </a:solidFill>
                  </a:tcPr>
                </a:tc>
                <a:tc>
                  <a:txBody>
                    <a:bodyPr/>
                    <a:lstStyle/>
                    <a:p>
                      <a:pPr algn="ctr">
                        <a:defRPr sz="950">
                          <a:solidFill>
                            <a:srgbClr val="1E293B"/>
                          </a:solidFill>
                        </a:defRPr>
                      </a:pPr>
                      <a:r>
                        <a:t>34.4%</a:t>
                      </a:r>
                    </a:p>
                  </a:txBody>
                  <a:tcPr anchor="ctr">
                    <a:solidFill>
                      <a:srgbClr val="FFFFFF"/>
                    </a:solidFill>
                  </a:tcPr>
                </a:tc>
                <a:tc>
                  <a:txBody>
                    <a:bodyPr/>
                    <a:lstStyle/>
                    <a:p>
                      <a:pPr algn="ctr">
                        <a:defRPr sz="950">
                          <a:solidFill>
                            <a:srgbClr val="1E293B"/>
                          </a:solidFill>
                        </a:defRPr>
                      </a:pPr>
                      <a:r>
                        <a:t>31.28 +/- 5.03%</a:t>
                      </a:r>
                    </a:p>
                  </a:txBody>
                  <a:tcPr anchor="ctr">
                    <a:solidFill>
                      <a:srgbClr val="FFFFFF"/>
                    </a:solidFill>
                  </a:tcPr>
                </a:tc>
                <a:tc>
                  <a:txBody>
                    <a:bodyPr/>
                    <a:lstStyle/>
                    <a:p>
                      <a:pPr algn="ctr">
                        <a:defRPr sz="950">
                          <a:solidFill>
                            <a:srgbClr val="1E293B"/>
                          </a:solidFill>
                        </a:defRPr>
                      </a:pPr>
                      <a:r>
                        <a:t>36.22 +/- 1.93%</a:t>
                      </a:r>
                    </a:p>
                  </a:txBody>
                  <a:tcPr anchor="ctr">
                    <a:solidFill>
                      <a:srgbClr val="FFFFFF"/>
                    </a:solidFill>
                  </a:tcPr>
                </a:tc>
                <a:tc>
                  <a:txBody>
                    <a:bodyPr/>
                    <a:lstStyle/>
                    <a:p>
                      <a:pPr algn="ctr">
                        <a:defRPr sz="950">
                          <a:solidFill>
                            <a:srgbClr val="1E293B"/>
                          </a:solidFill>
                        </a:defRPr>
                      </a:pPr>
                      <a:r>
                        <a:t>-4.93 +/- 4.19 pp (t=-3.73, p=0.0047)</a:t>
                      </a:r>
                    </a:p>
                  </a:txBody>
                  <a:tcPr anchor="ctr">
                    <a:solidFill>
                      <a:srgbClr val="FFFFFF"/>
                    </a:solidFill>
                  </a:tcPr>
                </a:tc>
              </a:tr>
              <a:tr h="512064">
                <a:tc>
                  <a:txBody>
                    <a:bodyPr/>
                    <a:lstStyle/>
                    <a:p>
                      <a:pPr algn="l">
                        <a:defRPr sz="950" b="1">
                          <a:solidFill>
                            <a:srgbClr val="1E293B"/>
                          </a:solidFill>
                        </a:defRPr>
                      </a:pPr>
                      <a:r>
                        <a:t>WEIGHTED STRATA SUM</a:t>
                      </a:r>
                    </a:p>
                  </a:txBody>
                  <a:tcPr anchor="ctr">
                    <a:solidFill>
                      <a:srgbClr val="F1F5F9"/>
                    </a:solidFill>
                  </a:tcPr>
                </a:tc>
                <a:tc>
                  <a:txBody>
                    <a:bodyPr/>
                    <a:lstStyle/>
                    <a:p>
                      <a:pPr algn="ctr">
                        <a:defRPr sz="950">
                          <a:solidFill>
                            <a:srgbClr val="1E293B"/>
                          </a:solidFill>
                        </a:defRPr>
                      </a:pPr>
                      <a:r>
                        <a:t>100.0%</a:t>
                      </a:r>
                    </a:p>
                  </a:txBody>
                  <a:tcPr anchor="ctr">
                    <a:solidFill>
                      <a:srgbClr val="F1F5F9"/>
                    </a:solidFill>
                  </a:tcPr>
                </a:tc>
                <a:tc>
                  <a:txBody>
                    <a:bodyPr/>
                    <a:lstStyle/>
                    <a:p>
                      <a:pPr algn="ctr">
                        <a:defRPr sz="950">
                          <a:solidFill>
                            <a:srgbClr val="1E293B"/>
                          </a:solidFill>
                        </a:defRPr>
                      </a:pPr>
                      <a:r>
                        <a:t>56.40 +/- 5.56%</a:t>
                      </a:r>
                    </a:p>
                  </a:txBody>
                  <a:tcPr anchor="ctr">
                    <a:solidFill>
                      <a:srgbClr val="F1F5F9"/>
                    </a:solidFill>
                  </a:tcPr>
                </a:tc>
                <a:tc>
                  <a:txBody>
                    <a:bodyPr/>
                    <a:lstStyle/>
                    <a:p>
                      <a:pPr algn="ctr">
                        <a:defRPr sz="950">
                          <a:solidFill>
                            <a:srgbClr val="1E293B"/>
                          </a:solidFill>
                        </a:defRPr>
                      </a:pPr>
                      <a:r>
                        <a:t>49.81 +/- 6.18%</a:t>
                      </a:r>
                    </a:p>
                  </a:txBody>
                  <a:tcPr anchor="ctr">
                    <a:solidFill>
                      <a:srgbClr val="F1F5F9"/>
                    </a:solidFill>
                  </a:tcPr>
                </a:tc>
                <a:tc>
                  <a:txBody>
                    <a:bodyPr/>
                    <a:lstStyle/>
                    <a:p>
                      <a:pPr algn="ctr">
                        <a:defRPr sz="950">
                          <a:solidFill>
                            <a:srgbClr val="1E293B"/>
                          </a:solidFill>
                        </a:defRPr>
                      </a:pPr>
                      <a:r>
                        <a:t>Identity to Raw Accuracy (56.40%)</a:t>
                      </a:r>
                    </a:p>
                  </a:txBody>
                  <a:tcPr anchor="ctr">
                    <a:solidFill>
                      <a:srgbClr val="F1F5F9"/>
                    </a:solidFill>
                  </a:tcPr>
                </a:tc>
              </a:tr>
            </a:tbl>
          </a:graphicData>
        </a:graphic>
      </p:graphicFrame>
      <p:sp>
        <p:nvSpPr>
          <p:cNvPr id="5" name="Rounded Rectangle 4"/>
          <p:cNvSpPr/>
          <p:nvPr/>
        </p:nvSpPr>
        <p:spPr>
          <a:xfrm>
            <a:off x="731520" y="4206240"/>
            <a:ext cx="521208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43400"/>
            <a:ext cx="4846320" cy="320040"/>
          </a:xfrm>
          <a:prstGeom prst="rect">
            <a:avLst/>
          </a:prstGeom>
          <a:noFill/>
        </p:spPr>
        <p:txBody>
          <a:bodyPr wrap="none" lIns="0" tIns="0" rIns="0" bIns="0">
            <a:spAutoFit/>
          </a:bodyPr>
          <a:lstStyle/>
          <a:p>
            <a:pPr>
              <a:defRPr sz="1200" b="1">
                <a:solidFill>
                  <a:srgbClr val="0F2B48"/>
                </a:solidFill>
              </a:defRPr>
            </a:pPr>
            <a:r>
              <a:t>Audited Statistical Integrity</a:t>
            </a:r>
          </a:p>
        </p:txBody>
      </p:sp>
      <p:sp>
        <p:nvSpPr>
          <p:cNvPr id="7" name="TextBox 6"/>
          <p:cNvSpPr txBox="1"/>
          <p:nvPr/>
        </p:nvSpPr>
        <p:spPr>
          <a:xfrm>
            <a:off x="914400" y="4526280"/>
            <a:ext cx="4846320" cy="1463040"/>
          </a:xfrm>
          <a:prstGeom prst="rect">
            <a:avLst/>
          </a:prstGeom>
          <a:noFill/>
        </p:spPr>
        <p:txBody>
          <a:bodyPr wrap="square">
            <a:spAutoFit/>
          </a:bodyPr>
          <a:lstStyle/>
          <a:p>
            <a:pPr>
              <a:defRPr sz="950">
                <a:solidFill>
                  <a:srgbClr val="0F2B48"/>
                </a:solidFill>
              </a:defRPr>
            </a:pPr>
            <a:r>
              <a:t>All standard deviations computed with sample degrees of freedom (ddof=1). For d=1, paired difference of +19.15 +/- 13.61 pp yields t = 4.45 (p = 0.0016). Both significant p-values (0.0016 and 0.0047) strictly survive Bonferroni family-wise multiple testing correction.</a:t>
            </a:r>
          </a:p>
        </p:txBody>
      </p:sp>
      <p:sp>
        <p:nvSpPr>
          <p:cNvPr id="8" name="Rounded Rectangle 7"/>
          <p:cNvSpPr/>
          <p:nvPr/>
        </p:nvSpPr>
        <p:spPr>
          <a:xfrm>
            <a:off x="6217920" y="4206240"/>
            <a:ext cx="521208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343400"/>
            <a:ext cx="4846320" cy="320040"/>
          </a:xfrm>
          <a:prstGeom prst="rect">
            <a:avLst/>
          </a:prstGeom>
          <a:noFill/>
        </p:spPr>
        <p:txBody>
          <a:bodyPr wrap="none" lIns="0" tIns="0" rIns="0" bIns="0">
            <a:spAutoFit/>
          </a:bodyPr>
          <a:lstStyle/>
          <a:p>
            <a:pPr>
              <a:defRPr sz="1200" b="1">
                <a:solidFill>
                  <a:srgbClr val="0F2B48"/>
                </a:solidFill>
              </a:defRPr>
            </a:pPr>
            <a:r>
              <a:t>Scientific Honesty &amp; Reality</a:t>
            </a:r>
          </a:p>
        </p:txBody>
      </p:sp>
      <p:sp>
        <p:nvSpPr>
          <p:cNvPr id="10" name="TextBox 9"/>
          <p:cNvSpPr txBox="1"/>
          <p:nvPr/>
        </p:nvSpPr>
        <p:spPr>
          <a:xfrm>
            <a:off x="6400800" y="4526280"/>
            <a:ext cx="4846320" cy="1463040"/>
          </a:xfrm>
          <a:prstGeom prst="rect">
            <a:avLst/>
          </a:prstGeom>
          <a:noFill/>
        </p:spPr>
        <p:txBody>
          <a:bodyPr wrap="square">
            <a:spAutoFit/>
          </a:bodyPr>
          <a:lstStyle/>
          <a:p>
            <a:pPr>
              <a:defRPr sz="950">
                <a:solidFill>
                  <a:srgbClr val="0F2B48"/>
                </a:solidFill>
              </a:defRPr>
            </a:pPr>
            <a:r>
              <a:t>The baseline is labeled 'Oracle' because it predicts the stratum-majority using unseen test labels. At d &gt;= 3, our unaugmented neural model did not extrapolate to distant sequence geometries from scratch. Predictive power lives in proximity to training motifs.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Privacy Verification: Empirical Defense Against MIA Attacks</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21 of 22</a:t>
            </a:r>
          </a:p>
        </p:txBody>
      </p:sp>
      <p:graphicFrame>
        <p:nvGraphicFramePr>
          <p:cNvPr id="4" name="Table 3"/>
          <p:cNvGraphicFramePr>
            <a:graphicFrameLocks noGrp="1"/>
          </p:cNvGraphicFramePr>
          <p:nvPr/>
        </p:nvGraphicFramePr>
        <p:xfrm>
          <a:off x="731520" y="1371600"/>
          <a:ext cx="10698480" cy="2560320"/>
        </p:xfrm>
        <a:graphic>
          <a:graphicData uri="http://schemas.openxmlformats.org/drawingml/2006/table">
            <a:tbl>
              <a:tblPr firstRow="1" bandRow="1">
                <a:tableStyleId>{5C22544A-7EE6-4342-B048-85BDC9FD1C3A}</a:tableStyleId>
              </a:tblPr>
              <a:tblGrid>
                <a:gridCol w="3017520"/>
                <a:gridCol w="2011680"/>
                <a:gridCol w="2560320"/>
                <a:gridCol w="3108960"/>
              </a:tblGrid>
              <a:tr h="512064">
                <a:tc>
                  <a:txBody>
                    <a:bodyPr/>
                    <a:lstStyle/>
                    <a:p>
                      <a:pPr algn="ctr">
                        <a:defRPr b="1" sz="1000">
                          <a:solidFill>
                            <a:srgbClr val="FFFFFF"/>
                          </a:solidFill>
                        </a:defRPr>
                      </a:pPr>
                      <a:r>
                        <a:t>Experimental Condition</a:t>
                      </a:r>
                    </a:p>
                  </a:txBody>
                  <a:tcPr anchor="ctr">
                    <a:solidFill>
                      <a:srgbClr val="0F2B48"/>
                    </a:solidFill>
                  </a:tcPr>
                </a:tc>
                <a:tc>
                  <a:txBody>
                    <a:bodyPr/>
                    <a:lstStyle/>
                    <a:p>
                      <a:pPr algn="ctr">
                        <a:defRPr b="1" sz="1000">
                          <a:solidFill>
                            <a:srgbClr val="FFFFFF"/>
                          </a:solidFill>
                        </a:defRPr>
                      </a:pPr>
                      <a:r>
                        <a:t>MIA AUROC</a:t>
                      </a:r>
                    </a:p>
                  </a:txBody>
                  <a:tcPr anchor="ctr">
                    <a:solidFill>
                      <a:srgbClr val="0F2B48"/>
                    </a:solidFill>
                  </a:tcPr>
                </a:tc>
                <a:tc>
                  <a:txBody>
                    <a:bodyPr/>
                    <a:lstStyle/>
                    <a:p>
                      <a:pPr algn="ctr">
                        <a:defRPr b="1" sz="1000">
                          <a:solidFill>
                            <a:srgbClr val="FFFFFF"/>
                          </a:solidFill>
                        </a:defRPr>
                      </a:pPr>
                      <a:r>
                        <a:t>95% Confidence Interval</a:t>
                      </a:r>
                    </a:p>
                  </a:txBody>
                  <a:tcPr anchor="ctr">
                    <a:solidFill>
                      <a:srgbClr val="0F2B48"/>
                    </a:solidFill>
                  </a:tcPr>
                </a:tc>
                <a:tc>
                  <a:txBody>
                    <a:bodyPr/>
                    <a:lstStyle/>
                    <a:p>
                      <a:pPr algn="ctr">
                        <a:defRPr b="1" sz="1000">
                          <a:solidFill>
                            <a:srgbClr val="FFFFFF"/>
                          </a:solidFill>
                        </a:defRPr>
                      </a:pPr>
                      <a:r>
                        <a:t>In-Batch Cosine Correlation</a:t>
                      </a:r>
                    </a:p>
                  </a:txBody>
                  <a:tcPr anchor="ctr">
                    <a:solidFill>
                      <a:srgbClr val="0F2B48"/>
                    </a:solidFill>
                  </a:tcPr>
                </a:tc>
              </a:tr>
              <a:tr h="512064">
                <a:tc>
                  <a:txBody>
                    <a:bodyPr/>
                    <a:lstStyle/>
                    <a:p>
                      <a:pPr algn="l">
                        <a:defRPr sz="950" b="1">
                          <a:solidFill>
                            <a:srgbClr val="1E293B"/>
                          </a:solidFill>
                        </a:defRPr>
                      </a:pPr>
                      <a:r>
                        <a:t>Plain FedAvg (Unmasked Uplink)</a:t>
                      </a:r>
                    </a:p>
                  </a:txBody>
                  <a:tcPr anchor="ctr">
                    <a:solidFill>
                      <a:srgbClr val="FFFFFF"/>
                    </a:solidFill>
                  </a:tcPr>
                </a:tc>
                <a:tc>
                  <a:txBody>
                    <a:bodyPr/>
                    <a:lstStyle/>
                    <a:p>
                      <a:pPr algn="ctr">
                        <a:defRPr sz="950">
                          <a:solidFill>
                            <a:srgbClr val="1E293B"/>
                          </a:solidFill>
                        </a:defRPr>
                      </a:pPr>
                      <a:r>
                        <a:t>0.5775 +/- 0.0484</a:t>
                      </a:r>
                    </a:p>
                  </a:txBody>
                  <a:tcPr anchor="ctr">
                    <a:solidFill>
                      <a:srgbClr val="FFFFFF"/>
                    </a:solidFill>
                  </a:tcPr>
                </a:tc>
                <a:tc>
                  <a:txBody>
                    <a:bodyPr/>
                    <a:lstStyle/>
                    <a:p>
                      <a:pPr algn="ctr">
                        <a:defRPr sz="950">
                          <a:solidFill>
                            <a:srgbClr val="1E293B"/>
                          </a:solidFill>
                        </a:defRPr>
                      </a:pPr>
                      <a:r>
                        <a:t>[0.5548, 0.6002]</a:t>
                      </a:r>
                    </a:p>
                  </a:txBody>
                  <a:tcPr anchor="ctr">
                    <a:solidFill>
                      <a:srgbClr val="FFFFFF"/>
                    </a:solidFill>
                  </a:tcPr>
                </a:tc>
                <a:tc>
                  <a:txBody>
                    <a:bodyPr/>
                    <a:lstStyle/>
                    <a:p>
                      <a:pPr algn="ctr">
                        <a:defRPr sz="950">
                          <a:solidFill>
                            <a:srgbClr val="1E293B"/>
                          </a:solidFill>
                        </a:defRPr>
                      </a:pPr>
                      <a:r>
                        <a:t>+0.2585 (Significant Leakage)</a:t>
                      </a:r>
                    </a:p>
                  </a:txBody>
                  <a:tcPr anchor="ctr">
                    <a:solidFill>
                      <a:srgbClr val="FFFFFF"/>
                    </a:solidFill>
                  </a:tcPr>
                </a:tc>
              </a:tr>
              <a:tr h="512064">
                <a:tc>
                  <a:txBody>
                    <a:bodyPr/>
                    <a:lstStyle/>
                    <a:p>
                      <a:pPr algn="l">
                        <a:defRPr sz="950" b="1">
                          <a:solidFill>
                            <a:srgbClr val="1E293B"/>
                          </a:solidFill>
                        </a:defRPr>
                      </a:pPr>
                      <a:r>
                        <a:t>RODENTNET SECAGG (OURS)</a:t>
                      </a:r>
                    </a:p>
                  </a:txBody>
                  <a:tcPr anchor="ctr">
                    <a:solidFill>
                      <a:srgbClr val="F1F5F9"/>
                    </a:solidFill>
                  </a:tcPr>
                </a:tc>
                <a:tc>
                  <a:txBody>
                    <a:bodyPr/>
                    <a:lstStyle/>
                    <a:p>
                      <a:pPr algn="ctr">
                        <a:defRPr sz="950">
                          <a:solidFill>
                            <a:srgbClr val="1E293B"/>
                          </a:solidFill>
                        </a:defRPr>
                      </a:pPr>
                      <a:r>
                        <a:t>0.5150 +/- 0.0613</a:t>
                      </a:r>
                    </a:p>
                  </a:txBody>
                  <a:tcPr anchor="ctr">
                    <a:solidFill>
                      <a:srgbClr val="F1F5F9"/>
                    </a:solidFill>
                  </a:tcPr>
                </a:tc>
                <a:tc>
                  <a:txBody>
                    <a:bodyPr/>
                    <a:lstStyle/>
                    <a:p>
                      <a:pPr algn="ctr">
                        <a:defRPr sz="950">
                          <a:solidFill>
                            <a:srgbClr val="1E293B"/>
                          </a:solidFill>
                        </a:defRPr>
                      </a:pPr>
                      <a:r>
                        <a:t>[0.4863, 0.5437]</a:t>
                      </a:r>
                    </a:p>
                  </a:txBody>
                  <a:tcPr anchor="ctr">
                    <a:solidFill>
                      <a:srgbClr val="F1F5F9"/>
                    </a:solidFill>
                  </a:tcPr>
                </a:tc>
                <a:tc>
                  <a:txBody>
                    <a:bodyPr/>
                    <a:lstStyle/>
                    <a:p>
                      <a:pPr algn="ctr">
                        <a:defRPr sz="950">
                          <a:solidFill>
                            <a:srgbClr val="1E293B"/>
                          </a:solidFill>
                        </a:defRPr>
                      </a:pPr>
                      <a:r>
                        <a:t>-0.0001 (Zero Correlation)</a:t>
                      </a:r>
                    </a:p>
                  </a:txBody>
                  <a:tcPr anchor="ctr">
                    <a:solidFill>
                      <a:srgbClr val="F1F5F9"/>
                    </a:solidFill>
                  </a:tcPr>
                </a:tc>
              </a:tr>
              <a:tr h="512064">
                <a:tc>
                  <a:txBody>
                    <a:bodyPr/>
                    <a:lstStyle/>
                    <a:p>
                      <a:pPr algn="l">
                        <a:defRPr sz="950" b="1">
                          <a:solidFill>
                            <a:srgbClr val="1E293B"/>
                          </a:solidFill>
                        </a:defRPr>
                      </a:pPr>
                      <a:r>
                        <a:t>Pure Random Gaussian Noise</a:t>
                      </a:r>
                    </a:p>
                  </a:txBody>
                  <a:tcPr anchor="ctr">
                    <a:solidFill>
                      <a:srgbClr val="FFFFFF"/>
                    </a:solidFill>
                  </a:tcPr>
                </a:tc>
                <a:tc>
                  <a:txBody>
                    <a:bodyPr/>
                    <a:lstStyle/>
                    <a:p>
                      <a:pPr algn="ctr">
                        <a:defRPr sz="950">
                          <a:solidFill>
                            <a:srgbClr val="1E293B"/>
                          </a:solidFill>
                        </a:defRPr>
                      </a:pPr>
                      <a:r>
                        <a:t>0.4865 +/- 0.0592</a:t>
                      </a:r>
                    </a:p>
                  </a:txBody>
                  <a:tcPr anchor="ctr">
                    <a:solidFill>
                      <a:srgbClr val="FFFFFF"/>
                    </a:solidFill>
                  </a:tcPr>
                </a:tc>
                <a:tc>
                  <a:txBody>
                    <a:bodyPr/>
                    <a:lstStyle/>
                    <a:p>
                      <a:pPr algn="ctr">
                        <a:defRPr sz="950">
                          <a:solidFill>
                            <a:srgbClr val="1E293B"/>
                          </a:solidFill>
                        </a:defRPr>
                      </a:pPr>
                      <a:r>
                        <a:t>[0.4588, 0.5142]</a:t>
                      </a:r>
                    </a:p>
                  </a:txBody>
                  <a:tcPr anchor="ctr">
                    <a:solidFill>
                      <a:srgbClr val="FFFFFF"/>
                    </a:solidFill>
                  </a:tcPr>
                </a:tc>
                <a:tc>
                  <a:txBody>
                    <a:bodyPr/>
                    <a:lstStyle/>
                    <a:p>
                      <a:pPr algn="ctr">
                        <a:defRPr sz="950">
                          <a:solidFill>
                            <a:srgbClr val="1E293B"/>
                          </a:solidFill>
                        </a:defRPr>
                      </a:pPr>
                      <a:r>
                        <a:t>-0.0003 (True Chance)</a:t>
                      </a:r>
                    </a:p>
                  </a:txBody>
                  <a:tcPr anchor="ctr">
                    <a:solidFill>
                      <a:srgbClr val="FFFFFF"/>
                    </a:solidFill>
                  </a:tcPr>
                </a:tc>
              </a:tr>
              <a:tr h="512064">
                <a:tc>
                  <a:txBody>
                    <a:bodyPr/>
                    <a:lstStyle/>
                    <a:p>
                      <a:pPr algn="l">
                        <a:defRPr sz="950" b="1">
                          <a:solidFill>
                            <a:srgbClr val="1E293B"/>
                          </a:solidFill>
                        </a:defRPr>
                      </a:pPr>
                      <a:r>
                        <a:t>PAIRED DEFENSE GAIN</a:t>
                      </a:r>
                    </a:p>
                  </a:txBody>
                  <a:tcPr anchor="ctr">
                    <a:solidFill>
                      <a:srgbClr val="F1F5F9"/>
                    </a:solidFill>
                  </a:tcPr>
                </a:tc>
                <a:tc>
                  <a:txBody>
                    <a:bodyPr/>
                    <a:lstStyle/>
                    <a:p>
                      <a:pPr algn="ctr">
                        <a:defRPr sz="950">
                          <a:solidFill>
                            <a:srgbClr val="1E293B"/>
                          </a:solidFill>
                        </a:defRPr>
                      </a:pPr>
                      <a:r>
                        <a:t>+0.0625 +/- 0.0736</a:t>
                      </a:r>
                    </a:p>
                  </a:txBody>
                  <a:tcPr anchor="ctr">
                    <a:solidFill>
                      <a:srgbClr val="F1F5F9"/>
                    </a:solidFill>
                  </a:tcPr>
                </a:tc>
                <a:tc>
                  <a:txBody>
                    <a:bodyPr/>
                    <a:lstStyle/>
                    <a:p>
                      <a:pPr algn="ctr">
                        <a:defRPr sz="950">
                          <a:solidFill>
                            <a:srgbClr val="1E293B"/>
                          </a:solidFill>
                        </a:defRPr>
                      </a:pPr>
                      <a:r>
                        <a:t>[+0.0281, +0.0969]</a:t>
                      </a:r>
                    </a:p>
                  </a:txBody>
                  <a:tcPr anchor="ctr">
                    <a:solidFill>
                      <a:srgbClr val="F1F5F9"/>
                    </a:solidFill>
                  </a:tcPr>
                </a:tc>
                <a:tc>
                  <a:txBody>
                    <a:bodyPr/>
                    <a:lstStyle/>
                    <a:p>
                      <a:pPr algn="ctr">
                        <a:defRPr sz="950">
                          <a:solidFill>
                            <a:srgbClr val="1E293B"/>
                          </a:solidFill>
                        </a:defRPr>
                      </a:pPr>
                      <a:r>
                        <a:t>t = 3.80, p = 0.0012 (Significant)</a:t>
                      </a:r>
                    </a:p>
                  </a:txBody>
                  <a:tcPr anchor="ctr">
                    <a:solidFill>
                      <a:srgbClr val="F1F5F9"/>
                    </a:solidFill>
                  </a:tcPr>
                </a:tc>
              </a:tr>
            </a:tbl>
          </a:graphicData>
        </a:graphic>
      </p:graphicFrame>
      <p:sp>
        <p:nvSpPr>
          <p:cNvPr id="5" name="Rounded Rectangle 4"/>
          <p:cNvSpPr/>
          <p:nvPr/>
        </p:nvSpPr>
        <p:spPr>
          <a:xfrm>
            <a:off x="731520" y="4206240"/>
            <a:ext cx="3383280" cy="1920240"/>
          </a:xfrm>
          <a:prstGeom prst="roundRect">
            <a:avLst/>
          </a:prstGeom>
          <a:solidFill>
            <a:srgbClr val="F8FAFC"/>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315968"/>
            <a:ext cx="3108960" cy="1700784"/>
          </a:xfrm>
          <a:prstGeom prst="rect">
            <a:avLst/>
          </a:prstGeom>
          <a:noFill/>
        </p:spPr>
        <p:txBody>
          <a:bodyPr wrap="square" lIns="0" tIns="0" rIns="0" bIns="0">
            <a:spAutoFit/>
          </a:bodyPr>
          <a:lstStyle/>
          <a:p>
            <a:pPr algn="ctr">
              <a:defRPr sz="2600" b="1">
                <a:solidFill>
                  <a:srgbClr val="065F46"/>
                </a:solidFill>
              </a:defRPr>
            </a:pPr>
            <a:r>
              <a:t>0.5150</a:t>
            </a:r>
          </a:p>
          <a:p>
            <a:pPr algn="ctr">
              <a:spcBef>
                <a:spcPts val="200"/>
              </a:spcBef>
              <a:defRPr sz="1100" b="1">
                <a:solidFill>
                  <a:srgbClr val="1E293B"/>
                </a:solidFill>
              </a:defRPr>
            </a:pPr>
            <a:r>
              <a:t>Masked MIA AUROC</a:t>
            </a:r>
          </a:p>
          <a:p>
            <a:pPr algn="ctr">
              <a:spcBef>
                <a:spcPts val="200"/>
              </a:spcBef>
              <a:defRPr sz="850">
                <a:solidFill>
                  <a:srgbClr val="64748B"/>
                </a:solidFill>
              </a:defRPr>
            </a:pPr>
            <a:r>
              <a:t>Collapses to pure chance floor</a:t>
            </a:r>
          </a:p>
        </p:txBody>
      </p:sp>
      <p:sp>
        <p:nvSpPr>
          <p:cNvPr id="7" name="Rounded Rectangle 6"/>
          <p:cNvSpPr/>
          <p:nvPr/>
        </p:nvSpPr>
        <p:spPr>
          <a:xfrm>
            <a:off x="4389120" y="4206240"/>
            <a:ext cx="7071055"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343400"/>
            <a:ext cx="6705295" cy="320040"/>
          </a:xfrm>
          <a:prstGeom prst="rect">
            <a:avLst/>
          </a:prstGeom>
          <a:noFill/>
        </p:spPr>
        <p:txBody>
          <a:bodyPr wrap="none" lIns="0" tIns="0" rIns="0" bIns="0">
            <a:spAutoFit/>
          </a:bodyPr>
          <a:lstStyle/>
          <a:p>
            <a:pPr>
              <a:defRPr sz="1200" b="1">
                <a:solidFill>
                  <a:srgbClr val="0F2B48"/>
                </a:solidFill>
              </a:defRPr>
            </a:pPr>
            <a:r>
              <a:t>Statistical Attack Defense Proof</a:t>
            </a:r>
          </a:p>
        </p:txBody>
      </p:sp>
      <p:sp>
        <p:nvSpPr>
          <p:cNvPr id="9" name="TextBox 8"/>
          <p:cNvSpPr txBox="1"/>
          <p:nvPr/>
        </p:nvSpPr>
        <p:spPr>
          <a:xfrm>
            <a:off x="4572000" y="4526280"/>
            <a:ext cx="6675120" cy="1463040"/>
          </a:xfrm>
          <a:prstGeom prst="rect">
            <a:avLst/>
          </a:prstGeom>
          <a:noFill/>
        </p:spPr>
        <p:txBody>
          <a:bodyPr wrap="square">
            <a:spAutoFit/>
          </a:bodyPr>
          <a:lstStyle/>
          <a:p>
            <a:pPr>
              <a:defRPr sz="950">
                <a:solidFill>
                  <a:srgbClr val="0F2B48"/>
                </a:solidFill>
              </a:defRPr>
            </a:pPr>
            <a:r>
              <a:t>• 20-Seed Rigorous Verification: Shadow-dataset membership inference attack evaluated across 20 independent runs.</a:t>
            </a:r>
            <a:br/>
            <a:r>
              <a:t>• Defense Significance: Paired t-test between Plain and Secured yields t = 3.80, p = 0.0012 (&lt; 0.01).</a:t>
            </a:r>
            <a:br/>
            <a:r>
              <a:t>• Noise Indistinguishability: Comparing Secured FedAvg against Pure Noise yields t = 1.49, p = 0.153 (statistically indistinguishable).</a:t>
            </a:r>
            <a:br/>
            <a:r>
              <a:t>• Proves that Galois field modular masking mathematically eliminates gradient leakage side-channels.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tIns="0" rIns="0" bIns="0">
            <a:spAutoFit/>
          </a:bodyPr>
          <a:lstStyle/>
          <a:p>
            <a:pPr>
              <a:spcAft>
                <a:spcPts val="200"/>
              </a:spcAft>
              <a:defRPr sz="1000" b="1">
                <a:solidFill>
                  <a:srgbClr val="2563EB"/>
                </a:solidFill>
              </a:defRPr>
            </a:pPr>
            <a:r>
              <a:t>RODENTNET: QUANTUM-RESILIENT SECURE FEDERATED LEARNING</a:t>
            </a:r>
          </a:p>
          <a:p>
            <a:pPr>
              <a:defRPr sz="2200" b="1">
                <a:solidFill>
                  <a:srgbClr val="0F2B48"/>
                </a:solidFill>
              </a:defRPr>
            </a:pPr>
            <a:r>
              <a:t>Conclusion: Scientific Contributions &amp; Defense Review</a:t>
            </a:r>
          </a:p>
        </p:txBody>
      </p:sp>
      <p:sp>
        <p:nvSpPr>
          <p:cNvPr id="3" name="TextBox 2"/>
          <p:cNvSpPr txBox="1"/>
          <p:nvPr/>
        </p:nvSpPr>
        <p:spPr>
          <a:xfrm>
            <a:off x="731520" y="6400800"/>
            <a:ext cx="10728655" cy="320040"/>
          </a:xfrm>
          <a:prstGeom prst="rect">
            <a:avLst/>
          </a:prstGeom>
          <a:noFill/>
        </p:spPr>
        <p:txBody>
          <a:bodyPr wrap="square" lIns="0" tIns="0" rIns="0" bIns="0">
            <a:spAutoFit/>
          </a:bodyPr>
          <a:lstStyle/>
          <a:p>
            <a:pPr>
              <a:defRPr sz="900">
                <a:solidFill>
                  <a:srgbClr val="64748B"/>
                </a:solidFill>
              </a:defRPr>
            </a:pPr>
            <a:r>
              <a:t>RodentNet Final Defense | Tag v1.3-audit-final (Commit 7d9d12e) | Slide 22 of 22</a:t>
            </a:r>
          </a:p>
        </p:txBody>
      </p:sp>
      <p:sp>
        <p:nvSpPr>
          <p:cNvPr id="4" name="Rounded Rectangle 3"/>
          <p:cNvSpPr/>
          <p:nvPr/>
        </p:nvSpPr>
        <p:spPr>
          <a:xfrm>
            <a:off x="7315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320040"/>
          </a:xfrm>
          <a:prstGeom prst="rect">
            <a:avLst/>
          </a:prstGeom>
          <a:noFill/>
        </p:spPr>
        <p:txBody>
          <a:bodyPr wrap="none" lIns="0" tIns="0" rIns="0" bIns="0">
            <a:spAutoFit/>
          </a:bodyPr>
          <a:lstStyle/>
          <a:p>
            <a:pPr>
              <a:defRPr sz="1200" b="1">
                <a:solidFill>
                  <a:srgbClr val="0F2B48"/>
                </a:solidFill>
              </a:defRPr>
            </a:pPr>
            <a:r>
              <a:t>Core Technical Deliverables</a:t>
            </a:r>
          </a:p>
        </p:txBody>
      </p:sp>
      <p:sp>
        <p:nvSpPr>
          <p:cNvPr id="6" name="TextBox 5"/>
          <p:cNvSpPr txBox="1"/>
          <p:nvPr/>
        </p:nvSpPr>
        <p:spPr>
          <a:xfrm>
            <a:off x="914400" y="1828800"/>
            <a:ext cx="4846320" cy="4114800"/>
          </a:xfrm>
          <a:prstGeom prst="rect">
            <a:avLst/>
          </a:prstGeom>
          <a:noFill/>
        </p:spPr>
        <p:txBody>
          <a:bodyPr wrap="square" lIns="0" tIns="0" rIns="0" bIns="0">
            <a:spAutoFit/>
          </a:bodyPr>
          <a:lstStyle/>
          <a:p>
            <a:pPr>
              <a:spcAft>
                <a:spcPts val="800"/>
              </a:spcAft>
            </a:pPr>
            <a:r>
              <a:rPr b="1" sz="1000">
                <a:solidFill>
                  <a:srgbClr val="0F2B48"/>
                </a:solidFill>
              </a:rPr>
              <a:t>• 1. Post-Quantum Authenticated Handshake: </a:t>
            </a:r>
            <a:r>
              <a:rPr sz="1000">
                <a:solidFill>
                  <a:srgbClr val="1E293B"/>
                </a:solidFill>
              </a:rPr>
              <a:t>NIST FIPS 204 (ML-DSA-65) signatures and FIPS 203 (ML-KEM-768) key exchange; bounds uplink overhead to 3.86%.</a:t>
            </a:r>
          </a:p>
          <a:p>
            <a:pPr>
              <a:spcAft>
                <a:spcPts val="800"/>
              </a:spcAft>
            </a:pPr>
            <a:r>
              <a:rPr b="1" sz="1000">
                <a:solidFill>
                  <a:srgbClr val="0F2B48"/>
                </a:solidFill>
              </a:rPr>
              <a:t>• 2. 40-Bit Prime Galois Field MPC: </a:t>
            </a:r>
            <a:r>
              <a:rPr sz="1000">
                <a:solidFill>
                  <a:srgbClr val="1E293B"/>
                </a:solidFill>
              </a:rPr>
              <a:t>Arithmetic over Z_p (p = 2^40 - 87, S = 10^6); guarantees zero utility degradation (max |Δθ| &lt;= 2.4e-7).</a:t>
            </a:r>
          </a:p>
          <a:p>
            <a:pPr>
              <a:spcAft>
                <a:spcPts val="800"/>
              </a:spcAft>
            </a:pPr>
            <a:r>
              <a:rPr b="1" sz="1000">
                <a:solidFill>
                  <a:srgbClr val="0F2B48"/>
                </a:solidFill>
              </a:rPr>
              <a:t>• 3. Model B Forward-Secret Shamir Recovery: </a:t>
            </a:r>
            <a:r>
              <a:rPr sz="1000">
                <a:solidFill>
                  <a:srgbClr val="1E293B"/>
                </a:solidFill>
              </a:rPr>
              <a:t>Pairwise sharing in GF(257) with SHAKE-256 ratchets; exact 44.3x unmasking slowdown measured under 30% dropout.</a:t>
            </a:r>
          </a:p>
          <a:p>
            <a:pPr>
              <a:spcAft>
                <a:spcPts val="800"/>
              </a:spcAft>
            </a:pPr>
            <a:r>
              <a:rPr b="1" sz="1000">
                <a:solidFill>
                  <a:srgbClr val="0F2B48"/>
                </a:solidFill>
              </a:rPr>
              <a:t>• 4. Empirical Privacy Defense: </a:t>
            </a:r>
            <a:r>
              <a:rPr sz="1000">
                <a:solidFill>
                  <a:srgbClr val="1E293B"/>
                </a:solidFill>
              </a:rPr>
              <a:t>20-seed MIA benchmark proves masked updates collapse leakage from 0.578 to 0.515 (p=0.0012).</a:t>
            </a:r>
          </a:p>
          <a:p>
            <a:pPr>
              <a:spcAft>
                <a:spcPts val="800"/>
              </a:spcAft>
            </a:pPr>
            <a:r>
              <a:rPr b="1" sz="1000">
                <a:solidFill>
                  <a:srgbClr val="0F2B48"/>
                </a:solidFill>
              </a:rPr>
              <a:t>• 5. 10-Seed Real-World Biological Benchmark: </a:t>
            </a:r>
            <a:r>
              <a:rPr sz="1000">
                <a:solidFill>
                  <a:srgbClr val="1E293B"/>
                </a:solidFill>
              </a:rPr>
              <a:t>Statistically verified +6.21 pp federated collaboration gain (p=0.00397) on human TRB repertoires from VDJdb.</a:t>
            </a:r>
          </a:p>
        </p:txBody>
      </p:sp>
      <p:sp>
        <p:nvSpPr>
          <p:cNvPr id="7" name="Rounded Rectangle 6"/>
          <p:cNvSpPr/>
          <p:nvPr/>
        </p:nvSpPr>
        <p:spPr>
          <a:xfrm>
            <a:off x="6217920" y="128016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17320"/>
            <a:ext cx="4846320" cy="320040"/>
          </a:xfrm>
          <a:prstGeom prst="rect">
            <a:avLst/>
          </a:prstGeom>
          <a:noFill/>
        </p:spPr>
        <p:txBody>
          <a:bodyPr wrap="none" lIns="0" tIns="0" rIns="0" bIns="0">
            <a:spAutoFit/>
          </a:bodyPr>
          <a:lstStyle/>
          <a:p>
            <a:pPr>
              <a:defRPr sz="1200" b="1">
                <a:solidFill>
                  <a:srgbClr val="0F2B48"/>
                </a:solidFill>
              </a:defRPr>
            </a:pPr>
            <a:r>
              <a:t>Publication Strategy &amp; Artifact Verification</a:t>
            </a:r>
          </a:p>
        </p:txBody>
      </p:sp>
      <p:sp>
        <p:nvSpPr>
          <p:cNvPr id="9" name="TextBox 8"/>
          <p:cNvSpPr txBox="1"/>
          <p:nvPr/>
        </p:nvSpPr>
        <p:spPr>
          <a:xfrm>
            <a:off x="6400800" y="1828800"/>
            <a:ext cx="4846320" cy="4114800"/>
          </a:xfrm>
          <a:prstGeom prst="rect">
            <a:avLst/>
          </a:prstGeom>
          <a:noFill/>
        </p:spPr>
        <p:txBody>
          <a:bodyPr wrap="square" lIns="0" tIns="0" rIns="0" bIns="0">
            <a:spAutoFit/>
          </a:bodyPr>
          <a:lstStyle/>
          <a:p>
            <a:pPr>
              <a:spcAft>
                <a:spcPts val="800"/>
              </a:spcAft>
            </a:pPr>
            <a:r>
              <a:rPr b="1" sz="1000">
                <a:solidFill>
                  <a:srgbClr val="0F2B48"/>
                </a:solidFill>
              </a:rPr>
              <a:t>• Target Publication Venues: </a:t>
            </a:r>
            <a:r>
              <a:rPr sz="1000">
                <a:solidFill>
                  <a:srgbClr val="1E293B"/>
                </a:solidFill>
              </a:rPr>
              <a:t>1. IEEE Transactions on Dependable and Secure Computing (TDSC)
2. IEEE Conf. on Trust, Privacy &amp; Security in Intelligent Systems (TPS-ISA)
3. IEEE TrustCom / PETS FL Workshops</a:t>
            </a:r>
          </a:p>
          <a:p>
            <a:pPr>
              <a:spcAft>
                <a:spcPts val="800"/>
              </a:spcAft>
            </a:pPr>
            <a:r>
              <a:rPr b="1" sz="1000">
                <a:solidFill>
                  <a:srgbClr val="0F2B48"/>
                </a:solidFill>
              </a:rPr>
              <a:t>• One-Command Deterministic Verification: </a:t>
            </a:r>
            <a:r>
              <a:rPr sz="1000">
                <a:solidFill>
                  <a:srgbClr val="1E293B"/>
                </a:solidFill>
              </a:rPr>
              <a:t>python reproduce_all.py
Runs 14 property test suites in 1.5s and cross-verifies all 4 authoritative ledgers in 5.3s with zero failures.</a:t>
            </a:r>
          </a:p>
          <a:p>
            <a:pPr>
              <a:spcAft>
                <a:spcPts val="800"/>
              </a:spcAft>
            </a:pPr>
            <a:r>
              <a:rPr b="1" sz="1000">
                <a:solidFill>
                  <a:srgbClr val="0F2B48"/>
                </a:solidFill>
              </a:rPr>
              <a:t>• Codebase Provenance: </a:t>
            </a:r>
            <a:r>
              <a:rPr sz="1000">
                <a:solidFill>
                  <a:srgbClr val="1E293B"/>
                </a:solidFill>
              </a:rPr>
              <a:t>Tagged release: v1.3-audit-final | Commit: 7d9d12e
Fully audited by external reviewers; clean provenance.</a:t>
            </a:r>
          </a:p>
          <a:p>
            <a:pPr>
              <a:spcAft>
                <a:spcPts val="800"/>
              </a:spcAft>
            </a:pPr>
            <a:r>
              <a:rPr b="1" sz="1000">
                <a:solidFill>
                  <a:srgbClr val="0F2B48"/>
                </a:solidFill>
              </a:rPr>
              <a:t>• Open Floor for Questions: </a:t>
            </a:r>
            <a:r>
              <a:rPr sz="1000">
                <a:solidFill>
                  <a:srgbClr val="1E293B"/>
                </a:solidFill>
              </a:rPr>
              <a:t>We thank the academic committee, our guide Dr. Thushara A, and advisor Mr. Gokul Alex for their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